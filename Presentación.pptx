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2" r:id="rId6"/>
    <p:sldId id="263" r:id="rId7"/>
    <p:sldId id="264" r:id="rId8"/>
    <p:sldId id="265" r:id="rId9"/>
    <p:sldId id="260"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19" d="100"/>
          <a:sy n="119" d="100"/>
        </p:scale>
        <p:origin x="8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MX"/>
          </a:p>
        </p:txBody>
      </p:sp>
      <p:sp>
        <p:nvSpPr>
          <p:cNvPr id="4" name="Marcador de fecha 3"/>
          <p:cNvSpPr>
            <a:spLocks noGrp="1"/>
          </p:cNvSpPr>
          <p:nvPr>
            <p:ph type="dt" sz="half" idx="10"/>
          </p:nvPr>
        </p:nvSpPr>
        <p:spPr/>
        <p:txBody>
          <a:bodyPr/>
          <a:lstStyle/>
          <a:p>
            <a:fld id="{5142D201-56EF-4216-9105-1D432EC43C7E}" type="datetimeFigureOut">
              <a:rPr lang="es-MX" smtClean="0"/>
              <a:t>14/10/2026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147514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5142D201-56EF-4216-9105-1D432EC43C7E}" type="datetimeFigureOut">
              <a:rPr lang="es-MX" smtClean="0"/>
              <a:t>14/10/2026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135050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5142D201-56EF-4216-9105-1D432EC43C7E}" type="datetimeFigureOut">
              <a:rPr lang="es-MX" smtClean="0"/>
              <a:t>14/10/2026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68673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5142D201-56EF-4216-9105-1D432EC43C7E}" type="datetimeFigureOut">
              <a:rPr lang="es-MX" smtClean="0"/>
              <a:t>14/10/2026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3285538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5142D201-56EF-4216-9105-1D432EC43C7E}" type="datetimeFigureOut">
              <a:rPr lang="es-MX" smtClean="0"/>
              <a:t>14/10/2026</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2993249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5142D201-56EF-4216-9105-1D432EC43C7E}" type="datetimeFigureOut">
              <a:rPr lang="es-MX" smtClean="0"/>
              <a:t>14/10/2026</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2193205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142D201-56EF-4216-9105-1D432EC43C7E}" type="datetimeFigureOut">
              <a:rPr lang="es-MX" smtClean="0"/>
              <a:t>14/10/2026</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209734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5142D201-56EF-4216-9105-1D432EC43C7E}" type="datetimeFigureOut">
              <a:rPr lang="es-MX" smtClean="0"/>
              <a:t>14/10/2026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3339284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5142D201-56EF-4216-9105-1D432EC43C7E}" type="datetimeFigureOut">
              <a:rPr lang="es-MX" smtClean="0"/>
              <a:t>14/10/2026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2622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5142D201-56EF-4216-9105-1D432EC43C7E}" type="datetimeFigureOut">
              <a:rPr lang="es-MX" smtClean="0"/>
              <a:t>14/10/2026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3420137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5142D201-56EF-4216-9105-1D432EC43C7E}" type="datetimeFigureOut">
              <a:rPr lang="es-MX" smtClean="0"/>
              <a:t>14/10/2026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9988ABFE-5D19-47ED-AA46-EBEAD1646A37}" type="slidenum">
              <a:rPr lang="es-MX" smtClean="0"/>
              <a:t>‹Nº›</a:t>
            </a:fld>
            <a:endParaRPr lang="es-MX"/>
          </a:p>
        </p:txBody>
      </p:sp>
    </p:spTree>
    <p:extLst>
      <p:ext uri="{BB962C8B-B14F-4D97-AF65-F5344CB8AC3E}">
        <p14:creationId xmlns:p14="http://schemas.microsoft.com/office/powerpoint/2010/main" val="1730393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42D201-56EF-4216-9105-1D432EC43C7E}" type="datetimeFigureOut">
              <a:rPr lang="es-MX" smtClean="0"/>
              <a:t>14/10/2026</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8ABFE-5D19-47ED-AA46-EBEAD1646A37}" type="slidenum">
              <a:rPr lang="es-MX" smtClean="0"/>
              <a:t>‹Nº›</a:t>
            </a:fld>
            <a:endParaRPr lang="es-MX"/>
          </a:p>
        </p:txBody>
      </p:sp>
    </p:spTree>
    <p:extLst>
      <p:ext uri="{BB962C8B-B14F-4D97-AF65-F5344CB8AC3E}">
        <p14:creationId xmlns:p14="http://schemas.microsoft.com/office/powerpoint/2010/main" val="2080345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0" y="26050"/>
            <a:ext cx="12189630" cy="6858000"/>
          </a:xfrm>
          <a:prstGeom prst="rect">
            <a:avLst/>
          </a:prstGeom>
        </p:spPr>
      </p:pic>
      <p:sp>
        <p:nvSpPr>
          <p:cNvPr id="3"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3128229" y="2814583"/>
            <a:ext cx="5857163" cy="640467"/>
          </a:xfrm>
          <a:solidFill>
            <a:schemeClr val="bg1"/>
          </a:solidFill>
          <a:ln>
            <a:noFill/>
          </a:ln>
        </p:spPr>
        <p:txBody>
          <a:bodyPr anchor="ctr">
            <a:normAutofit/>
          </a:bodyPr>
          <a:lstStyle/>
          <a:p>
            <a:pPr>
              <a:lnSpc>
                <a:spcPct val="100000"/>
              </a:lnSpc>
            </a:pPr>
            <a:r>
              <a:rPr lang="es-ES" sz="3600" b="1" dirty="0" smtClean="0">
                <a:solidFill>
                  <a:srgbClr val="15367D"/>
                </a:solidFill>
                <a:latin typeface="Arial Black" panose="020B0A04020102020204" pitchFamily="34" charset="0"/>
                <a:cs typeface="Arial" panose="020B0604020202020204" pitchFamily="34" charset="0"/>
              </a:rPr>
              <a:t>VOLUNTARIADO</a:t>
            </a:r>
            <a:endParaRPr lang="es-AR" sz="3600" b="1" dirty="0">
              <a:solidFill>
                <a:srgbClr val="15367D"/>
              </a:solidFill>
              <a:latin typeface="Arial Black" panose="020B0A04020102020204" pitchFamily="34" charset="0"/>
              <a:cs typeface="Arial" panose="020B0604020202020204" pitchFamily="34" charset="0"/>
            </a:endParaRPr>
          </a:p>
        </p:txBody>
      </p:sp>
      <p:sp>
        <p:nvSpPr>
          <p:cNvPr id="6" name="Subtítulo 2">
            <a:extLst>
              <a:ext uri="{FF2B5EF4-FFF2-40B4-BE49-F238E27FC236}">
                <a16:creationId xmlns="" xmlns:a16="http://schemas.microsoft.com/office/drawing/2014/main" id="{D756694E-3F83-49A0-8ED9-DF372DC2F713}"/>
              </a:ext>
            </a:extLst>
          </p:cNvPr>
          <p:cNvSpPr txBox="1">
            <a:spLocks/>
          </p:cNvSpPr>
          <p:nvPr/>
        </p:nvSpPr>
        <p:spPr>
          <a:xfrm>
            <a:off x="3532734" y="1991589"/>
            <a:ext cx="5203695" cy="1005521"/>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s-ES" sz="3600" dirty="0" smtClean="0">
                <a:solidFill>
                  <a:schemeClr val="bg1"/>
                </a:solidFill>
                <a:latin typeface="Arial" panose="020B0604020202020204" pitchFamily="34" charset="0"/>
                <a:cs typeface="Arial" panose="020B0604020202020204" pitchFamily="34" charset="0"/>
              </a:rPr>
              <a:t>PRESENTACIÓN </a:t>
            </a:r>
            <a:r>
              <a:rPr lang="es-MX" sz="3800" dirty="0">
                <a:solidFill>
                  <a:schemeClr val="bg1"/>
                </a:solidFill>
                <a:latin typeface="Arial" panose="020B0604020202020204" pitchFamily="34" charset="0"/>
                <a:cs typeface="Arial" panose="020B0604020202020204" pitchFamily="34" charset="0"/>
              </a:rPr>
              <a:t>Proyecto: </a:t>
            </a:r>
            <a:r>
              <a:rPr lang="es-MX" sz="3800" dirty="0" err="1">
                <a:solidFill>
                  <a:schemeClr val="bg1"/>
                </a:solidFill>
                <a:latin typeface="Arial" panose="020B0604020202020204" pitchFamily="34" charset="0"/>
                <a:cs typeface="Arial" panose="020B0604020202020204" pitchFamily="34" charset="0"/>
              </a:rPr>
              <a:t>Attack</a:t>
            </a:r>
            <a:r>
              <a:rPr lang="es-MX" sz="3800" dirty="0">
                <a:solidFill>
                  <a:schemeClr val="bg1"/>
                </a:solidFill>
                <a:latin typeface="Arial" panose="020B0604020202020204" pitchFamily="34" charset="0"/>
                <a:cs typeface="Arial" panose="020B0604020202020204" pitchFamily="34" charset="0"/>
              </a:rPr>
              <a:t> </a:t>
            </a:r>
            <a:r>
              <a:rPr lang="es-MX" sz="3800" dirty="0" err="1">
                <a:solidFill>
                  <a:schemeClr val="bg1"/>
                </a:solidFill>
                <a:latin typeface="Arial" panose="020B0604020202020204" pitchFamily="34" charset="0"/>
                <a:cs typeface="Arial" panose="020B0604020202020204" pitchFamily="34" charset="0"/>
              </a:rPr>
              <a:t>Surface</a:t>
            </a:r>
            <a:r>
              <a:rPr lang="es-MX" sz="3800" dirty="0">
                <a:solidFill>
                  <a:schemeClr val="bg1"/>
                </a:solidFill>
                <a:latin typeface="Arial" panose="020B0604020202020204" pitchFamily="34" charset="0"/>
                <a:cs typeface="Arial" panose="020B0604020202020204" pitchFamily="34" charset="0"/>
              </a:rPr>
              <a:t> Management (ASM) </a:t>
            </a:r>
            <a:endParaRPr lang="es-AR" sz="3600" dirty="0">
              <a:solidFill>
                <a:schemeClr val="bg1"/>
              </a:solidFill>
              <a:latin typeface="Arial" panose="020B0604020202020204" pitchFamily="34" charset="0"/>
              <a:cs typeface="Arial" panose="020B0604020202020204" pitchFamily="34" charset="0"/>
            </a:endParaRPr>
          </a:p>
        </p:txBody>
      </p:sp>
      <p:sp>
        <p:nvSpPr>
          <p:cNvPr id="7" name="Subtítulo 2">
            <a:extLst>
              <a:ext uri="{FF2B5EF4-FFF2-40B4-BE49-F238E27FC236}">
                <a16:creationId xmlns="" xmlns:a16="http://schemas.microsoft.com/office/drawing/2014/main" id="{D756694E-3F83-49A0-8ED9-DF372DC2F713}"/>
              </a:ext>
            </a:extLst>
          </p:cNvPr>
          <p:cNvSpPr txBox="1">
            <a:spLocks/>
          </p:cNvSpPr>
          <p:nvPr/>
        </p:nvSpPr>
        <p:spPr>
          <a:xfrm>
            <a:off x="3377193" y="3455050"/>
            <a:ext cx="5359236" cy="4579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pPr>
            <a:r>
              <a:rPr lang="es-ES" dirty="0" smtClean="0">
                <a:solidFill>
                  <a:schemeClr val="bg1"/>
                </a:solidFill>
                <a:latin typeface="Arial Black" panose="020B0A04020102020204" pitchFamily="34" charset="0"/>
                <a:cs typeface="Arial" panose="020B0604020202020204" pitchFamily="34" charset="0"/>
              </a:rPr>
              <a:t>Práctica Profesionalizante</a:t>
            </a:r>
          </a:p>
        </p:txBody>
      </p:sp>
    </p:spTree>
    <p:extLst>
      <p:ext uri="{BB962C8B-B14F-4D97-AF65-F5344CB8AC3E}">
        <p14:creationId xmlns:p14="http://schemas.microsoft.com/office/powerpoint/2010/main" val="1556474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4496193" y="495690"/>
            <a:ext cx="6062950" cy="830997"/>
          </a:xfrm>
          <a:prstGeom prst="rect">
            <a:avLst/>
          </a:prstGeom>
          <a:noFill/>
        </p:spPr>
        <p:txBody>
          <a:bodyPr wrap="square" rtlCol="0">
            <a:spAutoFit/>
          </a:bodyPr>
          <a:lstStyle/>
          <a:p>
            <a:r>
              <a:rPr lang="es-AR" sz="2400" spc="-150" dirty="0" smtClean="0">
                <a:solidFill>
                  <a:srgbClr val="5880B3"/>
                </a:solidFill>
                <a:latin typeface="Arial Black" panose="020B0A04020102020204" pitchFamily="34" charset="0"/>
              </a:rPr>
              <a:t>JESUS A. RODRIGUEZ MEDINA</a:t>
            </a:r>
          </a:p>
          <a:p>
            <a:r>
              <a:rPr lang="es-AR" sz="2400" spc="-150" dirty="0" smtClean="0">
                <a:solidFill>
                  <a:srgbClr val="5880B3"/>
                </a:solidFill>
                <a:latin typeface="Arial Black" panose="020B0A04020102020204" pitchFamily="34" charset="0"/>
              </a:rPr>
              <a:t>ROMJ010421HSDFDDSA7</a:t>
            </a:r>
            <a:endParaRPr lang="es-AR" sz="2400" spc="-150" dirty="0">
              <a:solidFill>
                <a:srgbClr val="5880B3"/>
              </a:solidFill>
              <a:latin typeface="Arial Black" panose="020B0A04020102020204" pitchFamily="34" charset="0"/>
            </a:endParaRPr>
          </a:p>
        </p:txBody>
      </p:sp>
      <p:sp>
        <p:nvSpPr>
          <p:cNvPr id="8" name="CuadroTexto 7"/>
          <p:cNvSpPr txBox="1"/>
          <p:nvPr/>
        </p:nvSpPr>
        <p:spPr>
          <a:xfrm>
            <a:off x="4517964" y="1390821"/>
            <a:ext cx="7004196" cy="1815882"/>
          </a:xfrm>
          <a:prstGeom prst="rect">
            <a:avLst/>
          </a:prstGeom>
          <a:noFill/>
        </p:spPr>
        <p:txBody>
          <a:bodyPr wrap="square" rtlCol="0">
            <a:spAutoFit/>
          </a:bodyPr>
          <a:lstStyle/>
          <a:p>
            <a:r>
              <a:rPr lang="es-ES" sz="1600" b="1" dirty="0" smtClean="0">
                <a:solidFill>
                  <a:srgbClr val="68776C"/>
                </a:solidFill>
                <a:latin typeface="Arial" panose="020B0604020202020204" pitchFamily="34" charset="0"/>
                <a:cs typeface="Arial" panose="020B0604020202020204" pitchFamily="34" charset="0"/>
              </a:rPr>
              <a:t>Objetivo de este </a:t>
            </a:r>
            <a:r>
              <a:rPr lang="es-ES" sz="1600" b="1" dirty="0" err="1" smtClean="0">
                <a:solidFill>
                  <a:srgbClr val="68776C"/>
                </a:solidFill>
                <a:latin typeface="Arial" panose="020B0604020202020204" pitchFamily="34" charset="0"/>
                <a:cs typeface="Arial" panose="020B0604020202020204" pitchFamily="34" charset="0"/>
              </a:rPr>
              <a:t>slide</a:t>
            </a:r>
            <a:r>
              <a:rPr lang="es-ES" sz="1600" b="1" dirty="0" smtClean="0">
                <a:solidFill>
                  <a:srgbClr val="68776C"/>
                </a:solidFill>
                <a:latin typeface="Arial" panose="020B0604020202020204" pitchFamily="34" charset="0"/>
                <a:cs typeface="Arial" panose="020B0604020202020204" pitchFamily="34" charset="0"/>
              </a:rPr>
              <a:t>: </a:t>
            </a:r>
          </a:p>
          <a:p>
            <a:r>
              <a:rPr lang="es-MX" sz="1600" dirty="0"/>
              <a:t>Estudiante de la Licenciatura en </a:t>
            </a:r>
            <a:r>
              <a:rPr lang="es-MX" sz="1600" dirty="0" err="1"/>
              <a:t>Ciberseguridad</a:t>
            </a:r>
            <a:r>
              <a:rPr lang="es-MX" sz="1600" dirty="0" smtClean="0"/>
              <a:t>.</a:t>
            </a:r>
          </a:p>
          <a:p>
            <a:r>
              <a:rPr lang="es-MX" sz="1600" dirty="0"/>
              <a:t>Falta de visibilidad sobre la exposición pública, vulnerabilidades de infraestructura y riesgos humanos en </a:t>
            </a:r>
            <a:r>
              <a:rPr lang="es-MX" sz="1600" dirty="0" smtClean="0"/>
              <a:t>Las empresas como AIACO.</a:t>
            </a:r>
          </a:p>
          <a:p>
            <a:r>
              <a:rPr lang="es-MX" sz="1600" b="1" dirty="0"/>
              <a:t>Rol:</a:t>
            </a:r>
            <a:r>
              <a:rPr lang="es-MX" sz="1600" dirty="0"/>
              <a:t> Analista de </a:t>
            </a:r>
            <a:r>
              <a:rPr lang="es-MX" sz="1600" dirty="0" err="1"/>
              <a:t>Ciberseguridad</a:t>
            </a:r>
            <a:r>
              <a:rPr lang="es-MX" sz="1600" dirty="0"/>
              <a:t> Jr. / </a:t>
            </a:r>
            <a:r>
              <a:rPr lang="es-MX" sz="1600" dirty="0" err="1"/>
              <a:t>DevSecOps</a:t>
            </a:r>
            <a:r>
              <a:rPr lang="es-MX" sz="1600" dirty="0" smtClean="0"/>
              <a:t>.</a:t>
            </a:r>
          </a:p>
          <a:p>
            <a:r>
              <a:rPr lang="es-MX" sz="1600" b="1" dirty="0"/>
              <a:t>Objetivo:</a:t>
            </a:r>
            <a:r>
              <a:rPr lang="es-MX" sz="1600" dirty="0"/>
              <a:t> Ejecutar auditorías de seguridad en múltiples vectores (Web, Identidad, Nube) siguiendo normativas internacionales (NIST, OWASP, ISO 27001).</a:t>
            </a:r>
            <a:endParaRPr lang="es-ES" sz="1600" b="1" dirty="0" smtClean="0">
              <a:solidFill>
                <a:srgbClr val="68776C"/>
              </a:solidFill>
              <a:latin typeface="Arial" panose="020B0604020202020204" pitchFamily="34" charset="0"/>
              <a:cs typeface="Arial" panose="020B0604020202020204" pitchFamily="34" charset="0"/>
            </a:endParaRPr>
          </a:p>
        </p:txBody>
      </p:sp>
      <p:sp>
        <p:nvSpPr>
          <p:cNvPr id="9" name="CuadroTexto 8"/>
          <p:cNvSpPr txBox="1"/>
          <p:nvPr/>
        </p:nvSpPr>
        <p:spPr>
          <a:xfrm>
            <a:off x="4619221" y="3270837"/>
            <a:ext cx="7271619" cy="2800767"/>
          </a:xfrm>
          <a:prstGeom prst="rect">
            <a:avLst/>
          </a:prstGeom>
          <a:noFill/>
        </p:spPr>
        <p:txBody>
          <a:bodyPr wrap="square" rtlCol="0">
            <a:spAutoFit/>
          </a:bodyPr>
          <a:lstStyle/>
          <a:p>
            <a:r>
              <a:rPr lang="es-MX" sz="1600" b="1" dirty="0" smtClean="0"/>
              <a:t>Rol</a:t>
            </a:r>
            <a:r>
              <a:rPr lang="es-MX" sz="1600" b="1" dirty="0"/>
              <a:t>:</a:t>
            </a:r>
            <a:r>
              <a:rPr lang="es-MX" sz="1600" dirty="0"/>
              <a:t> Analista de </a:t>
            </a:r>
            <a:r>
              <a:rPr lang="es-MX" sz="1600" dirty="0" err="1"/>
              <a:t>Ciberseguridad</a:t>
            </a:r>
            <a:r>
              <a:rPr lang="es-MX" sz="1600" dirty="0"/>
              <a:t> Jr. / </a:t>
            </a:r>
            <a:r>
              <a:rPr lang="es-MX" sz="1600" dirty="0" err="1"/>
              <a:t>DevSecOps</a:t>
            </a:r>
            <a:r>
              <a:rPr lang="es-MX" sz="1600" dirty="0"/>
              <a:t>.</a:t>
            </a:r>
          </a:p>
          <a:p>
            <a:endParaRPr lang="es-ES" sz="1600" dirty="0" smtClean="0">
              <a:solidFill>
                <a:srgbClr val="68776C"/>
              </a:solidFill>
              <a:latin typeface="Arial" panose="020B0604020202020204" pitchFamily="34" charset="0"/>
              <a:cs typeface="Arial" panose="020B0604020202020204" pitchFamily="34" charset="0"/>
            </a:endParaRPr>
          </a:p>
          <a:p>
            <a:r>
              <a:rPr lang="es-MX" sz="1600" b="1" dirty="0"/>
              <a:t>Objetivo:</a:t>
            </a:r>
            <a:r>
              <a:rPr lang="es-MX" sz="1600" dirty="0"/>
              <a:t> Ejecutar auditorías de seguridad en múltiples vectores (Web, Identidad, Nube) siguiendo normativas internacionales (NIST, OWASP, ISO 27001</a:t>
            </a:r>
            <a:r>
              <a:rPr lang="es-MX" sz="1600" dirty="0" smtClean="0"/>
              <a:t>).</a:t>
            </a:r>
          </a:p>
          <a:p>
            <a:r>
              <a:rPr lang="es-MX" sz="1600" dirty="0"/>
              <a:t>🌐 </a:t>
            </a:r>
            <a:r>
              <a:rPr lang="es-MX" sz="1600" b="1" dirty="0"/>
              <a:t>Mapeo Web y OSINT:</a:t>
            </a:r>
            <a:r>
              <a:rPr lang="es-MX" sz="1600" dirty="0"/>
              <a:t> Reconocimiento pasivo con Google </a:t>
            </a:r>
            <a:r>
              <a:rPr lang="es-MX" sz="1600" dirty="0" err="1"/>
              <a:t>Dorking</a:t>
            </a:r>
            <a:r>
              <a:rPr lang="es-MX" sz="1600" dirty="0"/>
              <a:t> y auditoría de la superficie web.</a:t>
            </a:r>
            <a:endParaRPr lang="es-ES" sz="1600" dirty="0">
              <a:solidFill>
                <a:srgbClr val="68776C"/>
              </a:solidFill>
              <a:latin typeface="Arial" panose="020B0604020202020204" pitchFamily="34" charset="0"/>
              <a:cs typeface="Arial" panose="020B0604020202020204" pitchFamily="34" charset="0"/>
            </a:endParaRPr>
          </a:p>
          <a:p>
            <a:r>
              <a:rPr lang="es-MX" sz="1600" dirty="0"/>
              <a:t>📧 </a:t>
            </a:r>
            <a:r>
              <a:rPr lang="es-MX" sz="1600" b="1" dirty="0"/>
              <a:t>Email Security:</a:t>
            </a:r>
            <a:r>
              <a:rPr lang="es-MX" sz="1600" dirty="0"/>
              <a:t> Identificación, análisis y remediación de fugas de credenciales corporativas en bases de datos</a:t>
            </a:r>
            <a:r>
              <a:rPr lang="es-MX" sz="1600" dirty="0" smtClean="0"/>
              <a:t>.</a:t>
            </a:r>
          </a:p>
          <a:p>
            <a:r>
              <a:rPr lang="es-MX" sz="1600" dirty="0"/>
              <a:t>☁️ </a:t>
            </a:r>
            <a:r>
              <a:rPr lang="es-MX" sz="1600" b="1" dirty="0"/>
              <a:t>Cloud Security:</a:t>
            </a:r>
            <a:r>
              <a:rPr lang="es-MX" sz="1600" dirty="0"/>
              <a:t> Auditoría de arquitectura y </a:t>
            </a:r>
            <a:r>
              <a:rPr lang="es-MX" sz="1600" dirty="0" err="1"/>
              <a:t>hardening</a:t>
            </a:r>
            <a:r>
              <a:rPr lang="es-MX" sz="1600" dirty="0"/>
              <a:t> en infraestructura de AWS (EC2 y VPC</a:t>
            </a:r>
            <a:r>
              <a:rPr lang="es-MX" sz="1600" dirty="0" smtClean="0"/>
              <a:t>).</a:t>
            </a:r>
          </a:p>
          <a:p>
            <a:r>
              <a:rPr lang="es-MX" sz="1600" dirty="0"/>
              <a:t>📱 </a:t>
            </a:r>
            <a:r>
              <a:rPr lang="es-MX" sz="1600" b="1" dirty="0" err="1"/>
              <a:t>AppSec</a:t>
            </a:r>
            <a:r>
              <a:rPr lang="es-MX" sz="1600" b="1" dirty="0"/>
              <a:t>:</a:t>
            </a:r>
            <a:r>
              <a:rPr lang="es-MX" sz="1600" dirty="0"/>
              <a:t> Análisis estático de vulnerabilidades (SAST) en aplicaciones móviles.</a:t>
            </a:r>
            <a:endParaRPr lang="es-ES" sz="1600" b="1" dirty="0">
              <a:solidFill>
                <a:srgbClr val="68776C"/>
              </a:solidFill>
              <a:latin typeface="Arial" panose="020B0604020202020204" pitchFamily="34" charset="0"/>
              <a:cs typeface="Arial" panose="020B0604020202020204" pitchFamily="34" charset="0"/>
            </a:endParaRPr>
          </a:p>
        </p:txBody>
      </p:sp>
      <p:pic>
        <p:nvPicPr>
          <p:cNvPr id="10" name="Imagen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6707" y="3323442"/>
            <a:ext cx="202514" cy="254664"/>
          </a:xfrm>
          <a:prstGeom prst="rect">
            <a:avLst/>
          </a:prstGeom>
        </p:spPr>
      </p:pic>
      <p:sp>
        <p:nvSpPr>
          <p:cNvPr id="15" name="CuadroTexto 14"/>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sp>
        <p:nvSpPr>
          <p:cNvPr id="12"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13"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14" name="Imagen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94936" y="3839443"/>
            <a:ext cx="202514" cy="254664"/>
          </a:xfrm>
          <a:prstGeom prst="rect">
            <a:avLst/>
          </a:prstGeom>
        </p:spPr>
      </p:pic>
      <p:pic>
        <p:nvPicPr>
          <p:cNvPr id="16" name="Imagen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94936" y="4302761"/>
            <a:ext cx="202514" cy="254664"/>
          </a:xfrm>
          <a:prstGeom prst="rect">
            <a:avLst/>
          </a:prstGeom>
        </p:spPr>
      </p:pic>
      <p:pic>
        <p:nvPicPr>
          <p:cNvPr id="17" name="Imagen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6707" y="4766079"/>
            <a:ext cx="202514" cy="254664"/>
          </a:xfrm>
          <a:prstGeom prst="rect">
            <a:avLst/>
          </a:prstGeom>
        </p:spPr>
      </p:pic>
      <p:pic>
        <p:nvPicPr>
          <p:cNvPr id="18" name="Imagen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6707" y="5229397"/>
            <a:ext cx="202514" cy="254664"/>
          </a:xfrm>
          <a:prstGeom prst="rect">
            <a:avLst/>
          </a:prstGeom>
        </p:spPr>
      </p:pic>
      <p:pic>
        <p:nvPicPr>
          <p:cNvPr id="19" name="Imagen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5822" y="5745398"/>
            <a:ext cx="202514" cy="254664"/>
          </a:xfrm>
          <a:prstGeom prst="rect">
            <a:avLst/>
          </a:prstGeom>
        </p:spPr>
      </p:pic>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5341" y="225631"/>
            <a:ext cx="3819810" cy="6377050"/>
          </a:xfrm>
          <a:prstGeom prst="rect">
            <a:avLst/>
          </a:prstGeom>
        </p:spPr>
      </p:pic>
    </p:spTree>
    <p:extLst>
      <p:ext uri="{BB962C8B-B14F-4D97-AF65-F5344CB8AC3E}">
        <p14:creationId xmlns:p14="http://schemas.microsoft.com/office/powerpoint/2010/main" val="3223061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5123848" y="1146473"/>
            <a:ext cx="8046720" cy="1200329"/>
          </a:xfrm>
          <a:prstGeom prst="rect">
            <a:avLst/>
          </a:prstGeom>
          <a:noFill/>
        </p:spPr>
        <p:txBody>
          <a:bodyPr wrap="square" rtlCol="0">
            <a:spAutoFit/>
          </a:bodyPr>
          <a:lstStyle/>
          <a:p>
            <a:r>
              <a:rPr lang="es-MX" sz="3600" spc="-150" dirty="0">
                <a:solidFill>
                  <a:srgbClr val="5880B3"/>
                </a:solidFill>
                <a:latin typeface="Arial Black" panose="020B0A04020102020204" pitchFamily="34" charset="0"/>
              </a:rPr>
              <a:t>DIFICULTADES, AMENAZAS E IMPACTO EN EL PROYECTO</a:t>
            </a:r>
            <a:endParaRPr lang="es-AR" sz="3600" spc="-150" dirty="0">
              <a:solidFill>
                <a:srgbClr val="5880B3"/>
              </a:solidFill>
              <a:latin typeface="Arial Black" panose="020B0A04020102020204" pitchFamily="34" charset="0"/>
            </a:endParaRPr>
          </a:p>
        </p:txBody>
      </p:sp>
      <p:sp>
        <p:nvSpPr>
          <p:cNvPr id="8" name="CuadroTexto 7"/>
          <p:cNvSpPr txBox="1"/>
          <p:nvPr/>
        </p:nvSpPr>
        <p:spPr>
          <a:xfrm>
            <a:off x="5180081" y="2216084"/>
            <a:ext cx="6634602" cy="3970318"/>
          </a:xfrm>
          <a:prstGeom prst="rect">
            <a:avLst/>
          </a:prstGeom>
          <a:noFill/>
        </p:spPr>
        <p:txBody>
          <a:bodyPr wrap="square" rtlCol="0">
            <a:spAutoFit/>
          </a:bodyPr>
          <a:lstStyle/>
          <a:p>
            <a:pPr marL="228600" indent="-228600">
              <a:buAutoNum type="arabicPeriod"/>
            </a:pPr>
            <a:r>
              <a:rPr lang="es-MX" sz="1200" b="1" dirty="0" smtClean="0">
                <a:solidFill>
                  <a:srgbClr val="68776C"/>
                </a:solidFill>
                <a:latin typeface="Arial" panose="020B0604020202020204" pitchFamily="34" charset="0"/>
                <a:cs typeface="Arial" panose="020B0604020202020204" pitchFamily="34" charset="0"/>
              </a:rPr>
              <a:t>Principales </a:t>
            </a:r>
            <a:r>
              <a:rPr lang="es-MX" sz="1200" b="1" dirty="0">
                <a:solidFill>
                  <a:srgbClr val="68776C"/>
                </a:solidFill>
                <a:latin typeface="Arial" panose="020B0604020202020204" pitchFamily="34" charset="0"/>
                <a:cs typeface="Arial" panose="020B0604020202020204" pitchFamily="34" charset="0"/>
              </a:rPr>
              <a:t>Amenazas de Seguridad </a:t>
            </a:r>
            <a:r>
              <a:rPr lang="es-MX" sz="1200" b="1" dirty="0" err="1">
                <a:solidFill>
                  <a:srgbClr val="68776C"/>
                </a:solidFill>
                <a:latin typeface="Arial" panose="020B0604020202020204" pitchFamily="34" charset="0"/>
                <a:cs typeface="Arial" panose="020B0604020202020204" pitchFamily="34" charset="0"/>
              </a:rPr>
              <a:t>DetectadasExposición</a:t>
            </a:r>
            <a:r>
              <a:rPr lang="es-MX" sz="1200" b="1" dirty="0">
                <a:solidFill>
                  <a:srgbClr val="68776C"/>
                </a:solidFill>
                <a:latin typeface="Arial" panose="020B0604020202020204" pitchFamily="34" charset="0"/>
                <a:cs typeface="Arial" panose="020B0604020202020204" pitchFamily="34" charset="0"/>
              </a:rPr>
              <a:t> de Servicios Críticos: Configuración del puerto SSH (TCP/22) expuesto globalmente (0.0.0.0/0) en la nube (AWS EC2).   Almacenamiento Inseguro de Identidades: Presencia de contraseñas corporativas en texto plano y algoritmos de </a:t>
            </a:r>
            <a:r>
              <a:rPr lang="es-MX" sz="1200" b="1" dirty="0" err="1">
                <a:solidFill>
                  <a:srgbClr val="68776C"/>
                </a:solidFill>
                <a:latin typeface="Arial" panose="020B0604020202020204" pitchFamily="34" charset="0"/>
                <a:cs typeface="Arial" panose="020B0604020202020204" pitchFamily="34" charset="0"/>
              </a:rPr>
              <a:t>hashing</a:t>
            </a:r>
            <a:r>
              <a:rPr lang="es-MX" sz="1200" b="1" dirty="0">
                <a:solidFill>
                  <a:srgbClr val="68776C"/>
                </a:solidFill>
                <a:latin typeface="Arial" panose="020B0604020202020204" pitchFamily="34" charset="0"/>
                <a:cs typeface="Arial" panose="020B0604020202020204" pitchFamily="34" charset="0"/>
              </a:rPr>
              <a:t> obsoletos (MD5) en base de datos.   Falsa Seguridad por Obscuridad: Configuración de rutas sensibles en robots.txt que revelaban la arquitectura interna en lugar de protegerla.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buAutoNum type="arabicPeriod"/>
            </a:pPr>
            <a:endParaRPr lang="es-MX" sz="1200" b="1" dirty="0">
              <a:solidFill>
                <a:srgbClr val="68776C"/>
              </a:solidFill>
              <a:latin typeface="Arial" panose="020B0604020202020204" pitchFamily="34" charset="0"/>
              <a:cs typeface="Arial" panose="020B0604020202020204" pitchFamily="34" charset="0"/>
            </a:endParaRPr>
          </a:p>
          <a:p>
            <a:pPr marL="228600" indent="-228600">
              <a:buAutoNum type="arabicPeriod"/>
            </a:pPr>
            <a:endParaRPr lang="es-MX" sz="1200" b="1" dirty="0" smtClean="0">
              <a:solidFill>
                <a:srgbClr val="68776C"/>
              </a:solidFill>
              <a:latin typeface="Arial" panose="020B0604020202020204" pitchFamily="34" charset="0"/>
              <a:cs typeface="Arial" panose="020B0604020202020204" pitchFamily="34" charset="0"/>
            </a:endParaRPr>
          </a:p>
          <a:p>
            <a:pPr marL="228600" indent="-228600">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Dificultades Operativas y de </a:t>
            </a:r>
            <a:r>
              <a:rPr lang="es-MX" sz="1200" b="1" dirty="0" err="1">
                <a:solidFill>
                  <a:srgbClr val="68776C"/>
                </a:solidFill>
                <a:latin typeface="Arial" panose="020B0604020202020204" pitchFamily="34" charset="0"/>
                <a:cs typeface="Arial" panose="020B0604020202020204" pitchFamily="34" charset="0"/>
              </a:rPr>
              <a:t>ProcedimientoGestión</a:t>
            </a:r>
            <a:r>
              <a:rPr lang="es-MX" sz="1200" b="1" dirty="0">
                <a:solidFill>
                  <a:srgbClr val="68776C"/>
                </a:solidFill>
                <a:latin typeface="Arial" panose="020B0604020202020204" pitchFamily="34" charset="0"/>
                <a:cs typeface="Arial" panose="020B0604020202020204" pitchFamily="34" charset="0"/>
              </a:rPr>
              <a:t> de Falsos Positivos: Identificación de actividad administrativa sospechosa que requirió investigación forense continua debido a la falta de un protocolo de notificación previa.   Saneamiento sin Interrupción: Necesidad de corregir la fuga de credenciales sin afectar los datos de los usuarios ni destruir evidencia de auditoría.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buAutoNum type="arabicPeriod"/>
            </a:pPr>
            <a:endParaRPr lang="es-MX" sz="1200" b="1" dirty="0">
              <a:solidFill>
                <a:srgbClr val="68776C"/>
              </a:solidFill>
              <a:latin typeface="Arial" panose="020B0604020202020204" pitchFamily="34" charset="0"/>
              <a:cs typeface="Arial" panose="020B0604020202020204" pitchFamily="34" charset="0"/>
            </a:endParaRPr>
          </a:p>
          <a:p>
            <a:pPr marL="228600" indent="-228600">
              <a:buAutoNum type="arabicPeriod"/>
            </a:pPr>
            <a:endParaRPr lang="es-MX" sz="1200" b="1" dirty="0" smtClean="0">
              <a:solidFill>
                <a:srgbClr val="68776C"/>
              </a:solidFill>
              <a:latin typeface="Arial" panose="020B0604020202020204" pitchFamily="34" charset="0"/>
              <a:cs typeface="Arial" panose="020B0604020202020204" pitchFamily="34" charset="0"/>
            </a:endParaRPr>
          </a:p>
          <a:p>
            <a:pPr marL="228600" indent="-228600">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Impacto en el </a:t>
            </a:r>
            <a:r>
              <a:rPr lang="es-MX" sz="1200" b="1" dirty="0" smtClean="0">
                <a:solidFill>
                  <a:srgbClr val="68776C"/>
                </a:solidFill>
                <a:latin typeface="Arial" panose="020B0604020202020204" pitchFamily="34" charset="0"/>
                <a:cs typeface="Arial" panose="020B0604020202020204" pitchFamily="34" charset="0"/>
              </a:rPr>
              <a:t>Proyecto </a:t>
            </a:r>
            <a:r>
              <a:rPr lang="es-MX" sz="1200" b="1" dirty="0">
                <a:solidFill>
                  <a:srgbClr val="68776C"/>
                </a:solidFill>
                <a:latin typeface="Arial" panose="020B0604020202020204" pitchFamily="34" charset="0"/>
                <a:cs typeface="Arial" panose="020B0604020202020204" pitchFamily="34" charset="0"/>
              </a:rPr>
              <a:t>Gasto de Recursos: El análisis de falsos positivos demandó tiempo operativo adicional del equipo de seguridad.   </a:t>
            </a:r>
            <a:r>
              <a:rPr lang="es-MX" sz="1200" b="1" dirty="0" smtClean="0">
                <a:solidFill>
                  <a:srgbClr val="68776C"/>
                </a:solidFill>
                <a:latin typeface="Arial" panose="020B0604020202020204" pitchFamily="34" charset="0"/>
                <a:cs typeface="Arial" panose="020B0604020202020204" pitchFamily="34" charset="0"/>
              </a:rPr>
              <a:t>Evolución </a:t>
            </a:r>
            <a:r>
              <a:rPr lang="es-MX" sz="1200" b="1" dirty="0">
                <a:solidFill>
                  <a:srgbClr val="68776C"/>
                </a:solidFill>
                <a:latin typeface="Arial" panose="020B0604020202020204" pitchFamily="34" charset="0"/>
                <a:cs typeface="Arial" panose="020B0604020202020204" pitchFamily="34" charset="0"/>
              </a:rPr>
              <a:t>del </a:t>
            </a:r>
            <a:r>
              <a:rPr lang="es-MX" sz="1200" b="1" dirty="0" err="1">
                <a:solidFill>
                  <a:srgbClr val="68776C"/>
                </a:solidFill>
                <a:latin typeface="Arial" panose="020B0604020202020204" pitchFamily="34" charset="0"/>
                <a:cs typeface="Arial" panose="020B0604020202020204" pitchFamily="34" charset="0"/>
              </a:rPr>
              <a:t>Hardening</a:t>
            </a:r>
            <a:r>
              <a:rPr lang="es-MX" sz="1200" b="1" dirty="0">
                <a:solidFill>
                  <a:srgbClr val="68776C"/>
                </a:solidFill>
                <a:latin typeface="Arial" panose="020B0604020202020204" pitchFamily="34" charset="0"/>
                <a:cs typeface="Arial" panose="020B0604020202020204" pitchFamily="34" charset="0"/>
              </a:rPr>
              <a:t>: Obligó a pasar de un enfoque de escaneo pasivo a la implementación de controles estrictos de acceso (restricción por /32 e IMDSv2 obligado).   📋 Formalización de Procesos: Evidenció la necesidad de establecer políticas internas de comunicación y gestión de cambios administrativos.</a:t>
            </a:r>
            <a:endParaRPr lang="es-AR" sz="1200" b="1" dirty="0">
              <a:solidFill>
                <a:srgbClr val="68776C"/>
              </a:solidFill>
              <a:latin typeface="Arial" panose="020B0604020202020204" pitchFamily="34" charset="0"/>
              <a:cs typeface="Arial" panose="020B0604020202020204" pitchFamily="34" charset="0"/>
            </a:endParaRPr>
          </a:p>
        </p:txBody>
      </p:sp>
      <p:sp>
        <p:nvSpPr>
          <p:cNvPr id="13"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15"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2" name="Imagen 1"/>
          <p:cNvPicPr>
            <a:picLocks noChangeAspect="1"/>
          </p:cNvPicPr>
          <p:nvPr/>
        </p:nvPicPr>
        <p:blipFill rotWithShape="1">
          <a:blip r:embed="rId2" cstate="print">
            <a:extLst>
              <a:ext uri="{28A0092B-C50C-407E-A947-70E740481C1C}">
                <a14:useLocalDpi xmlns:a14="http://schemas.microsoft.com/office/drawing/2010/main" val="0"/>
              </a:ext>
            </a:extLst>
          </a:blip>
          <a:srcRect l="40254" t="-588" r="22753" b="588"/>
          <a:stretch/>
        </p:blipFill>
        <p:spPr>
          <a:xfrm>
            <a:off x="1072669" y="-58289"/>
            <a:ext cx="3886822" cy="7004521"/>
          </a:xfrm>
          <a:prstGeom prst="rect">
            <a:avLst/>
          </a:prstGeom>
        </p:spPr>
      </p:pic>
      <p:sp>
        <p:nvSpPr>
          <p:cNvPr id="17" name="CuadroTexto 16"/>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4304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5123848" y="1146473"/>
            <a:ext cx="6875647" cy="954107"/>
          </a:xfrm>
          <a:prstGeom prst="rect">
            <a:avLst/>
          </a:prstGeom>
          <a:noFill/>
        </p:spPr>
        <p:txBody>
          <a:bodyPr wrap="square" rtlCol="0">
            <a:spAutoFit/>
          </a:bodyPr>
          <a:lstStyle/>
          <a:p>
            <a:r>
              <a:rPr lang="es-MX" sz="2800" spc="-150" dirty="0">
                <a:solidFill>
                  <a:srgbClr val="5880B3"/>
                </a:solidFill>
                <a:latin typeface="Arial Black" panose="020B0A04020102020204" pitchFamily="34" charset="0"/>
              </a:rPr>
              <a:t>MAPEO 1: SUPERFICIE DE ATAQUE WEB Y FINGERPRINTING</a:t>
            </a:r>
            <a:endParaRPr lang="es-AR" sz="2800" spc="-150" dirty="0">
              <a:solidFill>
                <a:srgbClr val="5880B3"/>
              </a:solidFill>
              <a:latin typeface="Arial Black" panose="020B0A04020102020204" pitchFamily="34" charset="0"/>
            </a:endParaRPr>
          </a:p>
        </p:txBody>
      </p:sp>
      <p:sp>
        <p:nvSpPr>
          <p:cNvPr id="8" name="CuadroTexto 7"/>
          <p:cNvSpPr txBox="1"/>
          <p:nvPr/>
        </p:nvSpPr>
        <p:spPr>
          <a:xfrm>
            <a:off x="5180081" y="2216084"/>
            <a:ext cx="6634602" cy="3600986"/>
          </a:xfrm>
          <a:prstGeom prst="rect">
            <a:avLst/>
          </a:prstGeom>
          <a:noFill/>
        </p:spPr>
        <p:txBody>
          <a:bodyPr wrap="square" rtlCol="0">
            <a:spAutoFit/>
          </a:bodyPr>
          <a:lstStyle/>
          <a:p>
            <a:pPr algn="ctr"/>
            <a:r>
              <a:rPr lang="es-AR" sz="1200" b="1" dirty="0" smtClean="0">
                <a:solidFill>
                  <a:srgbClr val="68776C"/>
                </a:solidFill>
                <a:latin typeface="Arial" panose="020B0604020202020204" pitchFamily="34" charset="0"/>
                <a:cs typeface="Arial" panose="020B0604020202020204" pitchFamily="34" charset="0"/>
              </a:rPr>
              <a:t>Activo </a:t>
            </a:r>
            <a:r>
              <a:rPr lang="es-AR" sz="1200" b="1" dirty="0">
                <a:solidFill>
                  <a:srgbClr val="68776C"/>
                </a:solidFill>
                <a:latin typeface="Arial" panose="020B0604020202020204" pitchFamily="34" charset="0"/>
                <a:cs typeface="Arial" panose="020B0604020202020204" pitchFamily="34" charset="0"/>
              </a:rPr>
              <a:t>Auditado: </a:t>
            </a:r>
            <a:r>
              <a:rPr lang="es-AR" sz="1200" b="1" dirty="0" err="1">
                <a:solidFill>
                  <a:srgbClr val="68776C"/>
                </a:solidFill>
                <a:latin typeface="Arial" panose="020B0604020202020204" pitchFamily="34" charset="0"/>
                <a:cs typeface="Arial" panose="020B0604020202020204" pitchFamily="34" charset="0"/>
              </a:rPr>
              <a:t>aiaco.netlify.app</a:t>
            </a:r>
            <a:r>
              <a:rPr lang="es-AR" sz="1200" b="1" dirty="0">
                <a:solidFill>
                  <a:srgbClr val="68776C"/>
                </a:solidFill>
                <a:latin typeface="Arial" panose="020B0604020202020204" pitchFamily="34" charset="0"/>
                <a:cs typeface="Arial" panose="020B0604020202020204" pitchFamily="34" charset="0"/>
              </a:rPr>
              <a:t> | Metodología: Caja Negra (NIST SP 800-115 / OWASP WSTG</a:t>
            </a:r>
            <a:r>
              <a:rPr lang="es-AR" sz="1200" b="1" dirty="0" smtClean="0">
                <a:solidFill>
                  <a:srgbClr val="68776C"/>
                </a:solidFill>
                <a:latin typeface="Arial" panose="020B0604020202020204" pitchFamily="34" charset="0"/>
                <a:cs typeface="Arial" panose="020B0604020202020204" pitchFamily="34" charset="0"/>
              </a:rPr>
              <a:t>)</a:t>
            </a:r>
          </a:p>
          <a:p>
            <a:pPr algn="ctr"/>
            <a:endParaRPr lang="es-AR" sz="1200" b="1" dirty="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Ejecución </a:t>
            </a:r>
            <a:r>
              <a:rPr lang="es-MX" sz="1200" b="1" dirty="0">
                <a:solidFill>
                  <a:srgbClr val="68776C"/>
                </a:solidFill>
                <a:latin typeface="Arial" panose="020B0604020202020204" pitchFamily="34" charset="0"/>
                <a:cs typeface="Arial" panose="020B0604020202020204" pitchFamily="34" charset="0"/>
              </a:rPr>
              <a:t>Técnica y </a:t>
            </a:r>
            <a:r>
              <a:rPr lang="es-MX" sz="1200" b="1" dirty="0" err="1">
                <a:solidFill>
                  <a:srgbClr val="68776C"/>
                </a:solidFill>
                <a:latin typeface="Arial" panose="020B0604020202020204" pitchFamily="34" charset="0"/>
                <a:cs typeface="Arial" panose="020B0604020202020204" pitchFamily="34" charset="0"/>
              </a:rPr>
              <a:t>HerramientasFingerprinting</a:t>
            </a:r>
            <a:r>
              <a:rPr lang="es-MX" sz="1200" b="1" dirty="0">
                <a:solidFill>
                  <a:srgbClr val="68776C"/>
                </a:solidFill>
                <a:latin typeface="Arial" panose="020B0604020202020204" pitchFamily="34" charset="0"/>
                <a:cs typeface="Arial" panose="020B0604020202020204" pitchFamily="34" charset="0"/>
              </a:rPr>
              <a:t> Pasivo: Identificación de pila </a:t>
            </a:r>
            <a:r>
              <a:rPr lang="es-MX" sz="1200" b="1" dirty="0" err="1">
                <a:solidFill>
                  <a:srgbClr val="68776C"/>
                </a:solidFill>
                <a:latin typeface="Arial" panose="020B0604020202020204" pitchFamily="34" charset="0"/>
                <a:cs typeface="Arial" panose="020B0604020202020204" pitchFamily="34" charset="0"/>
              </a:rPr>
              <a:t>Serverless</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Netlify</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Tailwind</a:t>
            </a:r>
            <a:r>
              <a:rPr lang="es-MX" sz="1200" b="1" dirty="0">
                <a:solidFill>
                  <a:srgbClr val="68776C"/>
                </a:solidFill>
                <a:latin typeface="Arial" panose="020B0604020202020204" pitchFamily="34" charset="0"/>
                <a:cs typeface="Arial" panose="020B0604020202020204" pitchFamily="34" charset="0"/>
              </a:rPr>
              <a:t> CSS y Google </a:t>
            </a:r>
            <a:r>
              <a:rPr lang="es-MX" sz="1200" b="1" dirty="0" err="1">
                <a:solidFill>
                  <a:srgbClr val="68776C"/>
                </a:solidFill>
                <a:latin typeface="Arial" panose="020B0604020202020204" pitchFamily="34" charset="0"/>
                <a:cs typeface="Arial" panose="020B0604020202020204" pitchFamily="34" charset="0"/>
              </a:rPr>
              <a:t>Fonts</a:t>
            </a:r>
            <a:r>
              <a:rPr lang="es-MX" sz="1200" b="1" dirty="0">
                <a:solidFill>
                  <a:srgbClr val="68776C"/>
                </a:solidFill>
                <a:latin typeface="Arial" panose="020B0604020202020204" pitchFamily="34" charset="0"/>
                <a:cs typeface="Arial" panose="020B0604020202020204" pitchFamily="34" charset="0"/>
              </a:rPr>
              <a:t>.   Escaneo Activo (</a:t>
            </a:r>
            <a:r>
              <a:rPr lang="es-MX" sz="1200" b="1" dirty="0" err="1">
                <a:solidFill>
                  <a:srgbClr val="68776C"/>
                </a:solidFill>
                <a:latin typeface="Arial" panose="020B0604020202020204" pitchFamily="34" charset="0"/>
                <a:cs typeface="Arial" panose="020B0604020202020204" pitchFamily="34" charset="0"/>
              </a:rPr>
              <a:t>Nmap</a:t>
            </a:r>
            <a:r>
              <a:rPr lang="es-MX" sz="1200" b="1" dirty="0">
                <a:solidFill>
                  <a:srgbClr val="68776C"/>
                </a:solidFill>
                <a:latin typeface="Arial" panose="020B0604020202020204" pitchFamily="34" charset="0"/>
                <a:cs typeface="Arial" panose="020B0604020202020204" pitchFamily="34" charset="0"/>
              </a:rPr>
              <a:t>): Análisis de puertos web (80/443) y verificación de métodos HTTP (GET, HEAD, POST, OPTIONS).   </a:t>
            </a:r>
            <a:r>
              <a:rPr lang="es-MX" sz="1200" b="1" dirty="0" err="1">
                <a:solidFill>
                  <a:srgbClr val="68776C"/>
                </a:solidFill>
                <a:latin typeface="Arial" panose="020B0604020202020204" pitchFamily="34" charset="0"/>
                <a:cs typeface="Arial" panose="020B0604020202020204" pitchFamily="34" charset="0"/>
              </a:rPr>
              <a:t>Fuzzing</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Gobuster</a:t>
            </a:r>
            <a:r>
              <a:rPr lang="es-MX" sz="1200" b="1" dirty="0">
                <a:solidFill>
                  <a:srgbClr val="68776C"/>
                </a:solidFill>
                <a:latin typeface="Arial" panose="020B0604020202020204" pitchFamily="34" charset="0"/>
                <a:cs typeface="Arial" panose="020B0604020202020204" pitchFamily="34" charset="0"/>
              </a:rPr>
              <a:t>): Búsqueda de rutas ocultas mediante diccionarios estandarizados.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endParaRPr lang="es-MX" sz="1200" b="1" dirty="0">
              <a:solidFill>
                <a:srgbClr val="68776C"/>
              </a:solidFill>
              <a:latin typeface="Arial" panose="020B0604020202020204" pitchFamily="34" charset="0"/>
              <a:cs typeface="Arial" panose="020B0604020202020204" pitchFamily="34" charset="0"/>
            </a:endParaRPr>
          </a:p>
          <a:p>
            <a:pPr algn="ct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2. Hallazgos </a:t>
            </a:r>
            <a:r>
              <a:rPr lang="es-MX" sz="1200" b="1" dirty="0" smtClean="0">
                <a:solidFill>
                  <a:srgbClr val="68776C"/>
                </a:solidFill>
                <a:latin typeface="Arial" panose="020B0604020202020204" pitchFamily="34" charset="0"/>
                <a:cs typeface="Arial" panose="020B0604020202020204" pitchFamily="34" charset="0"/>
              </a:rPr>
              <a:t>Principales </a:t>
            </a:r>
            <a:r>
              <a:rPr lang="es-MX" sz="1200" b="1" dirty="0">
                <a:solidFill>
                  <a:srgbClr val="68776C"/>
                </a:solidFill>
                <a:latin typeface="Arial" panose="020B0604020202020204" pitchFamily="34" charset="0"/>
                <a:cs typeface="Arial" panose="020B0604020202020204" pitchFamily="34" charset="0"/>
              </a:rPr>
              <a:t>Riesgo General: BAJO. Servicios críticos (SSH, FTP, </a:t>
            </a:r>
            <a:r>
              <a:rPr lang="es-MX" sz="1200" b="1" dirty="0" err="1">
                <a:solidFill>
                  <a:srgbClr val="68776C"/>
                </a:solidFill>
                <a:latin typeface="Arial" panose="020B0604020202020204" pitchFamily="34" charset="0"/>
                <a:cs typeface="Arial" panose="020B0604020202020204" pitchFamily="34" charset="0"/>
              </a:rPr>
              <a:t>MySQL</a:t>
            </a:r>
            <a:r>
              <a:rPr lang="es-MX" sz="1200" b="1" dirty="0">
                <a:solidFill>
                  <a:srgbClr val="68776C"/>
                </a:solidFill>
                <a:latin typeface="Arial" panose="020B0604020202020204" pitchFamily="34" charset="0"/>
                <a:cs typeface="Arial" panose="020B0604020202020204" pitchFamily="34" charset="0"/>
              </a:rPr>
              <a:t>, RDP) filtrados o cerrados.   </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Fugas de Datos: 0%. Sin archivos de configuración (.</a:t>
            </a:r>
            <a:r>
              <a:rPr lang="es-MX" sz="1200" b="1" dirty="0" err="1">
                <a:solidFill>
                  <a:srgbClr val="68776C"/>
                </a:solidFill>
                <a:latin typeface="Arial" panose="020B0604020202020204" pitchFamily="34" charset="0"/>
                <a:cs typeface="Arial" panose="020B0604020202020204" pitchFamily="34" charset="0"/>
              </a:rPr>
              <a:t>env</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git</a:t>
            </a:r>
            <a:r>
              <a:rPr lang="es-MX" sz="1200" b="1" dirty="0">
                <a:solidFill>
                  <a:srgbClr val="68776C"/>
                </a:solidFill>
                <a:latin typeface="Arial" panose="020B0604020202020204" pitchFamily="34" charset="0"/>
                <a:cs typeface="Arial" panose="020B0604020202020204" pitchFamily="34" charset="0"/>
              </a:rPr>
              <a:t> ni respaldos expuestos.   </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Oportunidad de </a:t>
            </a:r>
            <a:r>
              <a:rPr lang="es-MX" sz="1200" b="1" dirty="0" err="1">
                <a:solidFill>
                  <a:srgbClr val="68776C"/>
                </a:solidFill>
                <a:latin typeface="Arial" panose="020B0604020202020204" pitchFamily="34" charset="0"/>
                <a:cs typeface="Arial" panose="020B0604020202020204" pitchFamily="34" charset="0"/>
              </a:rPr>
              <a:t>Hardening</a:t>
            </a:r>
            <a:r>
              <a:rPr lang="es-MX" sz="1200" b="1" dirty="0">
                <a:solidFill>
                  <a:srgbClr val="68776C"/>
                </a:solidFill>
                <a:latin typeface="Arial" panose="020B0604020202020204" pitchFamily="34" charset="0"/>
                <a:cs typeface="Arial" panose="020B0604020202020204" pitchFamily="34" charset="0"/>
              </a:rPr>
              <a:t>: Ausencia de cabeceras defensivas clave (CSP, X-</a:t>
            </a:r>
            <a:r>
              <a:rPr lang="es-MX" sz="1200" b="1" dirty="0" err="1">
                <a:solidFill>
                  <a:srgbClr val="68776C"/>
                </a:solidFill>
                <a:latin typeface="Arial" panose="020B0604020202020204" pitchFamily="34" charset="0"/>
                <a:cs typeface="Arial" panose="020B0604020202020204" pitchFamily="34" charset="0"/>
              </a:rPr>
              <a:t>Frame</a:t>
            </a:r>
            <a:r>
              <a:rPr lang="es-MX" sz="1200" b="1" dirty="0">
                <a:solidFill>
                  <a:srgbClr val="68776C"/>
                </a:solidFill>
                <a:latin typeface="Arial" panose="020B0604020202020204" pitchFamily="34" charset="0"/>
                <a:cs typeface="Arial" panose="020B0604020202020204" pitchFamily="34" charset="0"/>
              </a:rPr>
              <a:t>-</a:t>
            </a:r>
            <a:r>
              <a:rPr lang="es-MX" sz="1200" b="1" dirty="0" err="1">
                <a:solidFill>
                  <a:srgbClr val="68776C"/>
                </a:solidFill>
                <a:latin typeface="Arial" panose="020B0604020202020204" pitchFamily="34" charset="0"/>
                <a:cs typeface="Arial" panose="020B0604020202020204" pitchFamily="34" charset="0"/>
              </a:rPr>
              <a:t>Options</a:t>
            </a:r>
            <a:r>
              <a:rPr lang="es-MX" sz="1200" b="1" dirty="0">
                <a:solidFill>
                  <a:srgbClr val="68776C"/>
                </a:solidFill>
                <a:latin typeface="Arial" panose="020B0604020202020204" pitchFamily="34" charset="0"/>
                <a:cs typeface="Arial" panose="020B0604020202020204" pitchFamily="34" charset="0"/>
              </a:rPr>
              <a:t>, X-Content-</a:t>
            </a:r>
            <a:r>
              <a:rPr lang="es-MX" sz="1200" b="1" dirty="0" err="1">
                <a:solidFill>
                  <a:srgbClr val="68776C"/>
                </a:solidFill>
                <a:latin typeface="Arial" panose="020B0604020202020204" pitchFamily="34" charset="0"/>
                <a:cs typeface="Arial" panose="020B0604020202020204" pitchFamily="34" charset="0"/>
              </a:rPr>
              <a:t>Type</a:t>
            </a:r>
            <a:r>
              <a:rPr lang="es-MX" sz="1200" b="1" dirty="0">
                <a:solidFill>
                  <a:srgbClr val="68776C"/>
                </a:solidFill>
                <a:latin typeface="Arial" panose="020B0604020202020204" pitchFamily="34" charset="0"/>
                <a:cs typeface="Arial" panose="020B0604020202020204" pitchFamily="34" charset="0"/>
              </a:rPr>
              <a:t>-</a:t>
            </a:r>
            <a:r>
              <a:rPr lang="es-MX" sz="1200" b="1" dirty="0" err="1">
                <a:solidFill>
                  <a:srgbClr val="68776C"/>
                </a:solidFill>
                <a:latin typeface="Arial" panose="020B0604020202020204" pitchFamily="34" charset="0"/>
                <a:cs typeface="Arial" panose="020B0604020202020204" pitchFamily="34" charset="0"/>
              </a:rPr>
              <a:t>Options</a:t>
            </a:r>
            <a:r>
              <a:rPr lang="es-MX" sz="1200" b="1" dirty="0">
                <a:solidFill>
                  <a:srgbClr val="68776C"/>
                </a:solidFill>
                <a:latin typeface="Arial" panose="020B0604020202020204" pitchFamily="34" charset="0"/>
                <a:cs typeface="Arial" panose="020B0604020202020204" pitchFamily="34" charset="0"/>
              </a:rPr>
              <a:t>).   </a:t>
            </a:r>
            <a:endParaRPr lang="es-MX" sz="1200" b="1" dirty="0" smtClean="0">
              <a:solidFill>
                <a:srgbClr val="68776C"/>
              </a:solidFill>
              <a:latin typeface="Arial" panose="020B0604020202020204" pitchFamily="34" charset="0"/>
              <a:cs typeface="Arial" panose="020B0604020202020204" pitchFamily="34" charset="0"/>
            </a:endParaRPr>
          </a:p>
          <a:p>
            <a:pPr algn="ctr"/>
            <a:endParaRPr lang="es-MX" sz="1200" b="1" dirty="0">
              <a:solidFill>
                <a:srgbClr val="68776C"/>
              </a:solidFill>
              <a:latin typeface="Arial" panose="020B0604020202020204" pitchFamily="34" charset="0"/>
              <a:cs typeface="Arial" panose="020B0604020202020204" pitchFamily="34" charset="0"/>
            </a:endParaRPr>
          </a:p>
          <a:p>
            <a:pPr algn="ctr"/>
            <a:endParaRPr lang="es-MX" sz="1200" b="1" dirty="0" smtClean="0">
              <a:solidFill>
                <a:srgbClr val="68776C"/>
              </a:solidFill>
              <a:latin typeface="Arial" panose="020B0604020202020204" pitchFamily="34" charset="0"/>
              <a:cs typeface="Arial" panose="020B0604020202020204" pitchFamily="34" charset="0"/>
            </a:endParaRPr>
          </a:p>
          <a:p>
            <a:pPr algn="ctr"/>
            <a:r>
              <a:rPr lang="es-MX" sz="1200" b="1" dirty="0" smtClean="0">
                <a:solidFill>
                  <a:srgbClr val="68776C"/>
                </a:solidFill>
                <a:latin typeface="Arial" panose="020B0604020202020204" pitchFamily="34" charset="0"/>
                <a:cs typeface="Arial" panose="020B0604020202020204" pitchFamily="34" charset="0"/>
              </a:rPr>
              <a:t>3</a:t>
            </a:r>
            <a:r>
              <a:rPr lang="es-MX" sz="1200" b="1" dirty="0">
                <a:solidFill>
                  <a:srgbClr val="68776C"/>
                </a:solidFill>
                <a:latin typeface="Arial" panose="020B0604020202020204" pitchFamily="34" charset="0"/>
                <a:cs typeface="Arial" panose="020B0604020202020204" pitchFamily="34" charset="0"/>
              </a:rPr>
              <a:t>. Impacto Laboral y Valor </a:t>
            </a:r>
            <a:r>
              <a:rPr lang="es-MX" sz="1200" b="1" dirty="0" err="1">
                <a:solidFill>
                  <a:srgbClr val="68776C"/>
                </a:solidFill>
                <a:latin typeface="Arial" panose="020B0604020202020204" pitchFamily="34" charset="0"/>
                <a:cs typeface="Arial" panose="020B0604020202020204" pitchFamily="34" charset="0"/>
              </a:rPr>
              <a:t>DevSecOpsDemuestra</a:t>
            </a:r>
            <a:r>
              <a:rPr lang="es-MX" sz="1200" b="1" dirty="0">
                <a:solidFill>
                  <a:srgbClr val="68776C"/>
                </a:solidFill>
                <a:latin typeface="Arial" panose="020B0604020202020204" pitchFamily="34" charset="0"/>
                <a:cs typeface="Arial" panose="020B0604020202020204" pitchFamily="34" charset="0"/>
              </a:rPr>
              <a:t> capacidad para evaluar la postura externa de una organización sin afectar la disponibilidad del servicio.   Aplica estándares internacionales (ISO 27001, NIST, OWASP) para traducir hallazgos técnicos en planes de acción (Blue </a:t>
            </a:r>
            <a:r>
              <a:rPr lang="es-MX" sz="1200" b="1" dirty="0" err="1">
                <a:solidFill>
                  <a:srgbClr val="68776C"/>
                </a:solidFill>
                <a:latin typeface="Arial" panose="020B0604020202020204" pitchFamily="34" charset="0"/>
                <a:cs typeface="Arial" panose="020B0604020202020204" pitchFamily="34" charset="0"/>
              </a:rPr>
              <a:t>Team</a:t>
            </a:r>
            <a:r>
              <a:rPr lang="es-MX" sz="1200" b="1" dirty="0">
                <a:solidFill>
                  <a:srgbClr val="68776C"/>
                </a:solidFill>
                <a:latin typeface="Arial" panose="020B0604020202020204" pitchFamily="34" charset="0"/>
                <a:cs typeface="Arial" panose="020B0604020202020204" pitchFamily="34" charset="0"/>
              </a:rPr>
              <a:t>)</a:t>
            </a:r>
            <a:endParaRPr lang="es-AR" sz="1200" b="1" dirty="0">
              <a:solidFill>
                <a:srgbClr val="68776C"/>
              </a:solidFill>
              <a:latin typeface="Arial" panose="020B0604020202020204" pitchFamily="34" charset="0"/>
              <a:cs typeface="Arial" panose="020B0604020202020204" pitchFamily="34" charset="0"/>
            </a:endParaRPr>
          </a:p>
        </p:txBody>
      </p:sp>
      <p:sp>
        <p:nvSpPr>
          <p:cNvPr id="13"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15"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7" name="CuadroTexto 16"/>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pic>
        <p:nvPicPr>
          <p:cNvPr id="9" name="Imagen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94"/>
            <a:ext cx="5013158" cy="7122694"/>
          </a:xfrm>
          <a:prstGeom prst="rect">
            <a:avLst/>
          </a:prstGeom>
        </p:spPr>
      </p:pic>
    </p:spTree>
    <p:extLst>
      <p:ext uri="{BB962C8B-B14F-4D97-AF65-F5344CB8AC3E}">
        <p14:creationId xmlns:p14="http://schemas.microsoft.com/office/powerpoint/2010/main" val="1481008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5123848" y="1146473"/>
            <a:ext cx="8046720" cy="830997"/>
          </a:xfrm>
          <a:prstGeom prst="rect">
            <a:avLst/>
          </a:prstGeom>
          <a:noFill/>
        </p:spPr>
        <p:txBody>
          <a:bodyPr wrap="square" rtlCol="0">
            <a:spAutoFit/>
          </a:bodyPr>
          <a:lstStyle/>
          <a:p>
            <a:r>
              <a:rPr lang="es-MX" sz="2400" spc="-150" dirty="0">
                <a:solidFill>
                  <a:srgbClr val="5880B3"/>
                </a:solidFill>
                <a:latin typeface="Arial Black" panose="020B0A04020102020204" pitchFamily="34" charset="0"/>
              </a:rPr>
              <a:t>MAPEO 2: SEGURIDAD DE CORREOS E IDENTIDADES CORPORATIVAS</a:t>
            </a:r>
            <a:endParaRPr lang="es-AR" sz="2400" spc="-150" dirty="0">
              <a:solidFill>
                <a:srgbClr val="5880B3"/>
              </a:solidFill>
              <a:latin typeface="Arial Black" panose="020B0A04020102020204" pitchFamily="34" charset="0"/>
            </a:endParaRPr>
          </a:p>
        </p:txBody>
      </p:sp>
      <p:sp>
        <p:nvSpPr>
          <p:cNvPr id="8" name="CuadroTexto 7"/>
          <p:cNvSpPr txBox="1"/>
          <p:nvPr/>
        </p:nvSpPr>
        <p:spPr>
          <a:xfrm>
            <a:off x="5180081" y="2216084"/>
            <a:ext cx="6634602" cy="3416320"/>
          </a:xfrm>
          <a:prstGeom prst="rect">
            <a:avLst/>
          </a:prstGeom>
          <a:noFill/>
        </p:spPr>
        <p:txBody>
          <a:bodyPr wrap="square" rtlCol="0">
            <a:spAutoFit/>
          </a:bodyPr>
          <a:lstStyle/>
          <a:p>
            <a:pPr algn="ctr"/>
            <a:r>
              <a:rPr lang="es-MX" sz="1200" b="1" dirty="0">
                <a:solidFill>
                  <a:srgbClr val="68776C"/>
                </a:solidFill>
                <a:latin typeface="Arial" panose="020B0604020202020204" pitchFamily="34" charset="0"/>
                <a:cs typeface="Arial" panose="020B0604020202020204" pitchFamily="34" charset="0"/>
              </a:rPr>
              <a:t>Vector Evaluado: Credenciales y Correos Corporativos | Entorno: </a:t>
            </a:r>
            <a:r>
              <a:rPr lang="es-MX" sz="1200" b="1" dirty="0" err="1">
                <a:solidFill>
                  <a:srgbClr val="68776C"/>
                </a:solidFill>
                <a:latin typeface="Arial" panose="020B0604020202020204" pitchFamily="34" charset="0"/>
                <a:cs typeface="Arial" panose="020B0604020202020204" pitchFamily="34" charset="0"/>
              </a:rPr>
              <a:t>Docker</a:t>
            </a:r>
            <a:r>
              <a:rPr lang="es-MX" sz="1200" b="1" dirty="0">
                <a:solidFill>
                  <a:srgbClr val="68776C"/>
                </a:solidFill>
                <a:latin typeface="Arial" panose="020B0604020202020204" pitchFamily="34" charset="0"/>
                <a:cs typeface="Arial" panose="020B0604020202020204" pitchFamily="34" charset="0"/>
              </a:rPr>
              <a:t> + WSL2 + </a:t>
            </a:r>
            <a:r>
              <a:rPr lang="es-MX" sz="1200" b="1" dirty="0" err="1">
                <a:solidFill>
                  <a:srgbClr val="68776C"/>
                </a:solidFill>
                <a:latin typeface="Arial" panose="020B0604020202020204" pitchFamily="34" charset="0"/>
                <a:cs typeface="Arial" panose="020B0604020202020204" pitchFamily="34" charset="0"/>
              </a:rPr>
              <a:t>MySQL</a:t>
            </a:r>
            <a:r>
              <a:rPr lang="es-MX" sz="1200" b="1" dirty="0">
                <a:solidFill>
                  <a:srgbClr val="68776C"/>
                </a:solidFill>
                <a:latin typeface="Arial" panose="020B0604020202020204" pitchFamily="34" charset="0"/>
                <a:cs typeface="Arial" panose="020B0604020202020204" pitchFamily="34" charset="0"/>
              </a:rPr>
              <a:t> </a:t>
            </a:r>
            <a:r>
              <a:rPr lang="es-MX" sz="1200" b="1" dirty="0" smtClean="0">
                <a:solidFill>
                  <a:srgbClr val="68776C"/>
                </a:solidFill>
                <a:latin typeface="Arial" panose="020B0604020202020204" pitchFamily="34" charset="0"/>
                <a:cs typeface="Arial" panose="020B0604020202020204" pitchFamily="34" charset="0"/>
              </a:rPr>
              <a:t>8.0</a:t>
            </a:r>
          </a:p>
          <a:p>
            <a:pPr algn="ctr"/>
            <a:endParaRPr lang="es-MX" sz="1200" b="1" dirty="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Diagnóstico </a:t>
            </a:r>
            <a:r>
              <a:rPr lang="es-MX" sz="1200" b="1" dirty="0">
                <a:solidFill>
                  <a:srgbClr val="68776C"/>
                </a:solidFill>
                <a:latin typeface="Arial" panose="020B0604020202020204" pitchFamily="34" charset="0"/>
                <a:cs typeface="Arial" panose="020B0604020202020204" pitchFamily="34" charset="0"/>
              </a:rPr>
              <a:t>e Identificación de </a:t>
            </a:r>
            <a:r>
              <a:rPr lang="es-MX" sz="1200" b="1" dirty="0" err="1">
                <a:solidFill>
                  <a:srgbClr val="68776C"/>
                </a:solidFill>
                <a:latin typeface="Arial" panose="020B0604020202020204" pitchFamily="34" charset="0"/>
                <a:cs typeface="Arial" panose="020B0604020202020204" pitchFamily="34" charset="0"/>
              </a:rPr>
              <a:t>RiesgoEvaluación</a:t>
            </a:r>
            <a:r>
              <a:rPr lang="es-MX" sz="1200" b="1" dirty="0">
                <a:solidFill>
                  <a:srgbClr val="68776C"/>
                </a:solidFill>
                <a:latin typeface="Arial" panose="020B0604020202020204" pitchFamily="34" charset="0"/>
                <a:cs typeface="Arial" panose="020B0604020202020204" pitchFamily="34" charset="0"/>
              </a:rPr>
              <a:t> de Base de Datos: Análisis de la tabla </a:t>
            </a:r>
            <a:r>
              <a:rPr lang="es-MX" sz="1200" b="1" dirty="0" err="1">
                <a:solidFill>
                  <a:srgbClr val="68776C"/>
                </a:solidFill>
                <a:latin typeface="Arial" panose="020B0604020202020204" pitchFamily="34" charset="0"/>
                <a:cs typeface="Arial" panose="020B0604020202020204" pitchFamily="34" charset="0"/>
              </a:rPr>
              <a:t>leaked_credentials</a:t>
            </a:r>
            <a:r>
              <a:rPr lang="es-MX" sz="1200" b="1" dirty="0">
                <a:solidFill>
                  <a:srgbClr val="68776C"/>
                </a:solidFill>
                <a:latin typeface="Arial" panose="020B0604020202020204" pitchFamily="34" charset="0"/>
                <a:cs typeface="Arial" panose="020B0604020202020204" pitchFamily="34" charset="0"/>
              </a:rPr>
              <a:t> sobre el dominio @</a:t>
            </a:r>
            <a:r>
              <a:rPr lang="es-MX" sz="1200" b="1" dirty="0" err="1">
                <a:solidFill>
                  <a:srgbClr val="68776C"/>
                </a:solidFill>
                <a:latin typeface="Arial" panose="020B0604020202020204" pitchFamily="34" charset="0"/>
                <a:cs typeface="Arial" panose="020B0604020202020204" pitchFamily="34" charset="0"/>
              </a:rPr>
              <a:t>aiaco.local</a:t>
            </a:r>
            <a:r>
              <a:rPr lang="es-MX" sz="1200" b="1" dirty="0">
                <a:solidFill>
                  <a:srgbClr val="68776C"/>
                </a:solidFill>
                <a:latin typeface="Arial" panose="020B0604020202020204" pitchFamily="34" charset="0"/>
                <a:cs typeface="Arial" panose="020B0604020202020204" pitchFamily="34" charset="0"/>
              </a:rPr>
              <a:t>.   </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Riesgo Inicial: CRÍTICO.   3 de 5 usuarios con contraseñas almacenadas en texto plano (ej. 123456, </a:t>
            </a:r>
            <a:r>
              <a:rPr lang="es-MX" sz="1200" b="1" dirty="0" err="1">
                <a:solidFill>
                  <a:srgbClr val="68776C"/>
                </a:solidFill>
                <a:latin typeface="Arial" panose="020B0604020202020204" pitchFamily="34" charset="0"/>
                <a:cs typeface="Arial" panose="020B0604020202020204" pitchFamily="34" charset="0"/>
              </a:rPr>
              <a:t>password</a:t>
            </a:r>
            <a:r>
              <a:rPr lang="es-MX" sz="1200" b="1" dirty="0">
                <a:solidFill>
                  <a:srgbClr val="68776C"/>
                </a:solidFill>
                <a:latin typeface="Arial" panose="020B0604020202020204" pitchFamily="34" charset="0"/>
                <a:cs typeface="Arial" panose="020B0604020202020204" pitchFamily="34" charset="0"/>
              </a:rPr>
              <a:t>).   2 usuarios con algoritmos de </a:t>
            </a:r>
            <a:r>
              <a:rPr lang="es-MX" sz="1200" b="1" dirty="0" err="1">
                <a:solidFill>
                  <a:srgbClr val="68776C"/>
                </a:solidFill>
                <a:latin typeface="Arial" panose="020B0604020202020204" pitchFamily="34" charset="0"/>
                <a:cs typeface="Arial" panose="020B0604020202020204" pitchFamily="34" charset="0"/>
              </a:rPr>
              <a:t>hashing</a:t>
            </a:r>
            <a:r>
              <a:rPr lang="es-MX" sz="1200" b="1" dirty="0">
                <a:solidFill>
                  <a:srgbClr val="68776C"/>
                </a:solidFill>
                <a:latin typeface="Arial" panose="020B0604020202020204" pitchFamily="34" charset="0"/>
                <a:cs typeface="Arial" panose="020B0604020202020204" pitchFamily="34" charset="0"/>
              </a:rPr>
              <a:t> obsoletos (MD5).   Formato Estructurado: Patrón predecible de nombramiento (</a:t>
            </a:r>
            <a:r>
              <a:rPr lang="es-MX" sz="1200" b="1" dirty="0" err="1">
                <a:solidFill>
                  <a:srgbClr val="68776C"/>
                </a:solidFill>
                <a:latin typeface="Arial" panose="020B0604020202020204" pitchFamily="34" charset="0"/>
                <a:cs typeface="Arial" panose="020B0604020202020204" pitchFamily="34" charset="0"/>
              </a:rPr>
              <a:t>nombre.apellido@aiaco.local</a:t>
            </a:r>
            <a:r>
              <a:rPr lang="es-MX" sz="1200" b="1" dirty="0">
                <a:solidFill>
                  <a:srgbClr val="68776C"/>
                </a:solidFill>
                <a:latin typeface="Arial" panose="020B0604020202020204" pitchFamily="34" charset="0"/>
                <a:cs typeface="Arial" panose="020B0604020202020204" pitchFamily="34" charset="0"/>
              </a:rPr>
              <a:t>).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Remediación Controlada y Validación (Blue </a:t>
            </a:r>
            <a:r>
              <a:rPr lang="es-MX" sz="1200" b="1" dirty="0" err="1">
                <a:solidFill>
                  <a:srgbClr val="68776C"/>
                </a:solidFill>
                <a:latin typeface="Arial" panose="020B0604020202020204" pitchFamily="34" charset="0"/>
                <a:cs typeface="Arial" panose="020B0604020202020204" pitchFamily="34" charset="0"/>
              </a:rPr>
              <a:t>Team</a:t>
            </a:r>
            <a:r>
              <a:rPr lang="es-MX" sz="1200" b="1" dirty="0">
                <a:solidFill>
                  <a:srgbClr val="68776C"/>
                </a:solidFill>
                <a:latin typeface="Arial" panose="020B0604020202020204" pitchFamily="34" charset="0"/>
                <a:cs typeface="Arial" panose="020B0604020202020204" pitchFamily="34" charset="0"/>
              </a:rPr>
              <a:t>)Saneamiento por SQL: Eliminación de exposición en texto plano mediante UPDATE lógico sobre réplica de respaldo (</a:t>
            </a:r>
            <a:r>
              <a:rPr lang="es-MX" sz="1200" b="1" dirty="0" err="1">
                <a:solidFill>
                  <a:srgbClr val="68776C"/>
                </a:solidFill>
                <a:latin typeface="Arial" panose="020B0604020202020204" pitchFamily="34" charset="0"/>
                <a:cs typeface="Arial" panose="020B0604020202020204" pitchFamily="34" charset="0"/>
              </a:rPr>
              <a:t>leaked_credentials_backup</a:t>
            </a:r>
            <a:r>
              <a:rPr lang="es-MX" sz="1200" b="1" dirty="0">
                <a:solidFill>
                  <a:srgbClr val="68776C"/>
                </a:solidFill>
                <a:latin typeface="Arial" panose="020B0604020202020204" pitchFamily="34" charset="0"/>
                <a:cs typeface="Arial" panose="020B0604020202020204" pitchFamily="34" charset="0"/>
              </a:rPr>
              <a:t>).   </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Resultado Post-Remediación: 0 contraseñas en texto plano expuestas conservando el 100% de la integridad de los registros de usuario (5/5).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Impacto Laboral y Valor </a:t>
            </a:r>
            <a:r>
              <a:rPr lang="es-MX" sz="1200" b="1" dirty="0" err="1">
                <a:solidFill>
                  <a:srgbClr val="68776C"/>
                </a:solidFill>
                <a:latin typeface="Arial" panose="020B0604020202020204" pitchFamily="34" charset="0"/>
                <a:cs typeface="Arial" panose="020B0604020202020204" pitchFamily="34" charset="0"/>
              </a:rPr>
              <a:t>DevSecOpsDemuestra</a:t>
            </a:r>
            <a:r>
              <a:rPr lang="es-MX" sz="1200" b="1" dirty="0">
                <a:solidFill>
                  <a:srgbClr val="68776C"/>
                </a:solidFill>
                <a:latin typeface="Arial" panose="020B0604020202020204" pitchFamily="34" charset="0"/>
                <a:cs typeface="Arial" panose="020B0604020202020204" pitchFamily="34" charset="0"/>
              </a:rPr>
              <a:t> competencia en Data </a:t>
            </a:r>
            <a:r>
              <a:rPr lang="es-MX" sz="1200" b="1" dirty="0" err="1">
                <a:solidFill>
                  <a:srgbClr val="68776C"/>
                </a:solidFill>
                <a:latin typeface="Arial" panose="020B0604020202020204" pitchFamily="34" charset="0"/>
                <a:cs typeface="Arial" panose="020B0604020202020204" pitchFamily="34" charset="0"/>
              </a:rPr>
              <a:t>Sanitization</a:t>
            </a:r>
            <a:r>
              <a:rPr lang="es-MX" sz="1200" b="1" dirty="0">
                <a:solidFill>
                  <a:srgbClr val="68776C"/>
                </a:solidFill>
                <a:latin typeface="Arial" panose="020B0604020202020204" pitchFamily="34" charset="0"/>
                <a:cs typeface="Arial" panose="020B0604020202020204" pitchFamily="34" charset="0"/>
              </a:rPr>
              <a:t> (Saneamiento de Datos) y cumplimiento de estándares de identidad (OWASP ASVS, CIS Control 5, ISO/IEC 27001 A.9).   Aplica el principio de Continuidad del Negocio: Remedia vulnerabilidades críticas en bases de datos relacionales sin destruir evidencia forense ni interrumpir el servicio. </a:t>
            </a:r>
            <a:endParaRPr lang="es-AR" sz="1200" b="1" dirty="0">
              <a:solidFill>
                <a:srgbClr val="68776C"/>
              </a:solidFill>
              <a:latin typeface="Arial" panose="020B0604020202020204" pitchFamily="34" charset="0"/>
              <a:cs typeface="Arial" panose="020B0604020202020204" pitchFamily="34" charset="0"/>
            </a:endParaRPr>
          </a:p>
        </p:txBody>
      </p:sp>
      <p:sp>
        <p:nvSpPr>
          <p:cNvPr id="13"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15"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7" name="CuadroTexto 16"/>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94"/>
            <a:ext cx="5013158" cy="7122694"/>
          </a:xfrm>
          <a:prstGeom prst="rect">
            <a:avLst/>
          </a:prstGeom>
        </p:spPr>
      </p:pic>
    </p:spTree>
    <p:extLst>
      <p:ext uri="{BB962C8B-B14F-4D97-AF65-F5344CB8AC3E}">
        <p14:creationId xmlns:p14="http://schemas.microsoft.com/office/powerpoint/2010/main" val="38472297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5123848" y="1146473"/>
            <a:ext cx="8046720" cy="954107"/>
          </a:xfrm>
          <a:prstGeom prst="rect">
            <a:avLst/>
          </a:prstGeom>
          <a:noFill/>
        </p:spPr>
        <p:txBody>
          <a:bodyPr wrap="square" rtlCol="0">
            <a:spAutoFit/>
          </a:bodyPr>
          <a:lstStyle/>
          <a:p>
            <a:r>
              <a:rPr lang="es-MX" sz="2800" spc="-150" dirty="0">
                <a:solidFill>
                  <a:srgbClr val="5880B3"/>
                </a:solidFill>
                <a:latin typeface="Arial Black" panose="020B0A04020102020204" pitchFamily="34" charset="0"/>
              </a:rPr>
              <a:t>MAPEO 3: SEGURIDAD EN LA NUBE Y HARDENING CLOUD (AWS)</a:t>
            </a:r>
            <a:endParaRPr lang="es-AR" sz="2800" spc="-150" dirty="0">
              <a:solidFill>
                <a:srgbClr val="5880B3"/>
              </a:solidFill>
              <a:latin typeface="Arial Black" panose="020B0A04020102020204" pitchFamily="34" charset="0"/>
            </a:endParaRPr>
          </a:p>
        </p:txBody>
      </p:sp>
      <p:sp>
        <p:nvSpPr>
          <p:cNvPr id="8" name="CuadroTexto 7"/>
          <p:cNvSpPr txBox="1"/>
          <p:nvPr/>
        </p:nvSpPr>
        <p:spPr>
          <a:xfrm>
            <a:off x="5180081" y="2216084"/>
            <a:ext cx="6634602" cy="3600986"/>
          </a:xfrm>
          <a:prstGeom prst="rect">
            <a:avLst/>
          </a:prstGeom>
          <a:noFill/>
        </p:spPr>
        <p:txBody>
          <a:bodyPr wrap="square" rtlCol="0">
            <a:spAutoFit/>
          </a:bodyPr>
          <a:lstStyle/>
          <a:p>
            <a:pPr algn="ctr"/>
            <a:r>
              <a:rPr lang="es-AR" sz="1200" b="1" dirty="0">
                <a:solidFill>
                  <a:srgbClr val="68776C"/>
                </a:solidFill>
                <a:latin typeface="Arial" panose="020B0604020202020204" pitchFamily="34" charset="0"/>
                <a:cs typeface="Arial" panose="020B0604020202020204" pitchFamily="34" charset="0"/>
              </a:rPr>
              <a:t>Activo Evaluado: Instancia EC2 </a:t>
            </a:r>
            <a:r>
              <a:rPr lang="es-AR" sz="1200" b="1" dirty="0" err="1">
                <a:solidFill>
                  <a:srgbClr val="68776C"/>
                </a:solidFill>
                <a:latin typeface="Arial" panose="020B0604020202020204" pitchFamily="34" charset="0"/>
                <a:cs typeface="Arial" panose="020B0604020202020204" pitchFamily="34" charset="0"/>
              </a:rPr>
              <a:t>devsecops-lab</a:t>
            </a:r>
            <a:r>
              <a:rPr lang="es-AR" sz="1200" b="1" dirty="0">
                <a:solidFill>
                  <a:srgbClr val="68776C"/>
                </a:solidFill>
                <a:latin typeface="Arial" panose="020B0604020202020204" pitchFamily="34" charset="0"/>
                <a:cs typeface="Arial" panose="020B0604020202020204" pitchFamily="34" charset="0"/>
              </a:rPr>
              <a:t> (Ubuntu 22.04 LTS en AWS) | Enfoque: Red </a:t>
            </a:r>
            <a:r>
              <a:rPr lang="es-AR" sz="1200" b="1" dirty="0" err="1">
                <a:solidFill>
                  <a:srgbClr val="68776C"/>
                </a:solidFill>
                <a:latin typeface="Arial" panose="020B0604020202020204" pitchFamily="34" charset="0"/>
                <a:cs typeface="Arial" panose="020B0604020202020204" pitchFamily="34" charset="0"/>
              </a:rPr>
              <a:t>Team</a:t>
            </a:r>
            <a:r>
              <a:rPr lang="es-AR" sz="1200" b="1" dirty="0">
                <a:solidFill>
                  <a:srgbClr val="68776C"/>
                </a:solidFill>
                <a:latin typeface="Arial" panose="020B0604020202020204" pitchFamily="34" charset="0"/>
                <a:cs typeface="Arial" panose="020B0604020202020204" pitchFamily="34" charset="0"/>
              </a:rPr>
              <a:t> ➔ Blue </a:t>
            </a:r>
            <a:r>
              <a:rPr lang="es-AR" sz="1200" b="1" dirty="0" err="1" smtClean="0">
                <a:solidFill>
                  <a:srgbClr val="68776C"/>
                </a:solidFill>
                <a:latin typeface="Arial" panose="020B0604020202020204" pitchFamily="34" charset="0"/>
                <a:cs typeface="Arial" panose="020B0604020202020204" pitchFamily="34" charset="0"/>
              </a:rPr>
              <a:t>Team</a:t>
            </a:r>
            <a:endParaRPr lang="es-AR" sz="1200" b="1" dirty="0" smtClean="0">
              <a:solidFill>
                <a:srgbClr val="68776C"/>
              </a:solidFill>
              <a:latin typeface="Arial" panose="020B0604020202020204" pitchFamily="34" charset="0"/>
              <a:cs typeface="Arial" panose="020B0604020202020204" pitchFamily="34" charset="0"/>
            </a:endParaRPr>
          </a:p>
          <a:p>
            <a:pPr algn="ctr"/>
            <a:endParaRPr lang="es-AR" sz="1200" b="1" dirty="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Auditoría </a:t>
            </a:r>
            <a:r>
              <a:rPr lang="es-MX" sz="1200" b="1" dirty="0">
                <a:solidFill>
                  <a:srgbClr val="68776C"/>
                </a:solidFill>
                <a:latin typeface="Arial" panose="020B0604020202020204" pitchFamily="34" charset="0"/>
                <a:cs typeface="Arial" panose="020B0604020202020204" pitchFamily="34" charset="0"/>
              </a:rPr>
              <a:t>de Vulnerabilidades (Red </a:t>
            </a:r>
            <a:r>
              <a:rPr lang="es-MX" sz="1200" b="1" dirty="0" err="1">
                <a:solidFill>
                  <a:srgbClr val="68776C"/>
                </a:solidFill>
                <a:latin typeface="Arial" panose="020B0604020202020204" pitchFamily="34" charset="0"/>
                <a:cs typeface="Arial" panose="020B0604020202020204" pitchFamily="34" charset="0"/>
              </a:rPr>
              <a:t>Team</a:t>
            </a:r>
            <a:r>
              <a:rPr lang="es-MX" sz="1200" b="1" dirty="0">
                <a:solidFill>
                  <a:srgbClr val="68776C"/>
                </a:solidFill>
                <a:latin typeface="Arial" panose="020B0604020202020204" pitchFamily="34" charset="0"/>
                <a:cs typeface="Arial" panose="020B0604020202020204" pitchFamily="34" charset="0"/>
              </a:rPr>
              <a:t>)Servicio SSH Expuesto: Puerto TCP/22 abierto globalmente a Internet (0.0.0.0/0) en el Security </a:t>
            </a:r>
            <a:r>
              <a:rPr lang="es-MX" sz="1200" b="1" dirty="0" err="1">
                <a:solidFill>
                  <a:srgbClr val="68776C"/>
                </a:solidFill>
                <a:latin typeface="Arial" panose="020B0604020202020204" pitchFamily="34" charset="0"/>
                <a:cs typeface="Arial" panose="020B0604020202020204" pitchFamily="34" charset="0"/>
              </a:rPr>
              <a:t>Group</a:t>
            </a:r>
            <a:r>
              <a:rPr lang="es-MX" sz="1200" b="1" dirty="0">
                <a:solidFill>
                  <a:srgbClr val="68776C"/>
                </a:solidFill>
                <a:latin typeface="Arial" panose="020B0604020202020204" pitchFamily="34" charset="0"/>
                <a:cs typeface="Arial" panose="020B0604020202020204" pitchFamily="34" charset="0"/>
              </a:rPr>
              <a:t>.   Servicio de Metadatos Inseguro: IMDSv2 configurado como </a:t>
            </a:r>
            <a:r>
              <a:rPr lang="es-MX" sz="1200" b="1" dirty="0" err="1">
                <a:solidFill>
                  <a:srgbClr val="68776C"/>
                </a:solidFill>
                <a:latin typeface="Arial" panose="020B0604020202020204" pitchFamily="34" charset="0"/>
                <a:cs typeface="Arial" panose="020B0604020202020204" pitchFamily="34" charset="0"/>
              </a:rPr>
              <a:t>Optional</a:t>
            </a:r>
            <a:r>
              <a:rPr lang="es-MX" sz="1200" b="1" dirty="0">
                <a:solidFill>
                  <a:srgbClr val="68776C"/>
                </a:solidFill>
                <a:latin typeface="Arial" panose="020B0604020202020204" pitchFamily="34" charset="0"/>
                <a:cs typeface="Arial" panose="020B0604020202020204" pitchFamily="34" charset="0"/>
              </a:rPr>
              <a:t>, permitiendo la consulta de metadatos de la instancia sin </a:t>
            </a:r>
            <a:r>
              <a:rPr lang="es-MX" sz="1200" b="1" dirty="0" err="1">
                <a:solidFill>
                  <a:srgbClr val="68776C"/>
                </a:solidFill>
                <a:latin typeface="Arial" panose="020B0604020202020204" pitchFamily="34" charset="0"/>
                <a:cs typeface="Arial" panose="020B0604020202020204" pitchFamily="34" charset="0"/>
              </a:rPr>
              <a:t>token</a:t>
            </a:r>
            <a:r>
              <a:rPr lang="es-MX" sz="1200" b="1" dirty="0">
                <a:solidFill>
                  <a:srgbClr val="68776C"/>
                </a:solidFill>
                <a:latin typeface="Arial" panose="020B0604020202020204" pitchFamily="34" charset="0"/>
                <a:cs typeface="Arial" panose="020B0604020202020204" pitchFamily="34" charset="0"/>
              </a:rPr>
              <a:t>.   </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Riesgo Inicial Global: MEDIO-ALTO.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Remediación y Validación Técnica (Blue </a:t>
            </a:r>
            <a:r>
              <a:rPr lang="es-MX" sz="1200" b="1" dirty="0" err="1">
                <a:solidFill>
                  <a:srgbClr val="68776C"/>
                </a:solidFill>
                <a:latin typeface="Arial" panose="020B0604020202020204" pitchFamily="34" charset="0"/>
                <a:cs typeface="Arial" panose="020B0604020202020204" pitchFamily="34" charset="0"/>
              </a:rPr>
              <a:t>Team</a:t>
            </a:r>
            <a:r>
              <a:rPr lang="es-MX" sz="1200" b="1" dirty="0">
                <a:solidFill>
                  <a:srgbClr val="68776C"/>
                </a:solidFill>
                <a:latin typeface="Arial" panose="020B0604020202020204" pitchFamily="34" charset="0"/>
                <a:cs typeface="Arial" panose="020B0604020202020204" pitchFamily="34" charset="0"/>
              </a:rPr>
              <a:t>)Restricción de Red: Regla de </a:t>
            </a:r>
            <a:r>
              <a:rPr lang="es-MX" sz="1200" b="1" dirty="0" err="1">
                <a:solidFill>
                  <a:srgbClr val="68776C"/>
                </a:solidFill>
                <a:latin typeface="Arial" panose="020B0604020202020204" pitchFamily="34" charset="0"/>
                <a:cs typeface="Arial" panose="020B0604020202020204" pitchFamily="34" charset="0"/>
              </a:rPr>
              <a:t>Ingress</a:t>
            </a:r>
            <a:r>
              <a:rPr lang="es-MX" sz="1200" b="1" dirty="0">
                <a:solidFill>
                  <a:srgbClr val="68776C"/>
                </a:solidFill>
                <a:latin typeface="Arial" panose="020B0604020202020204" pitchFamily="34" charset="0"/>
                <a:cs typeface="Arial" panose="020B0604020202020204" pitchFamily="34" charset="0"/>
              </a:rPr>
              <a:t> de SSH en Security </a:t>
            </a:r>
            <a:r>
              <a:rPr lang="es-MX" sz="1200" b="1" dirty="0" err="1">
                <a:solidFill>
                  <a:srgbClr val="68776C"/>
                </a:solidFill>
                <a:latin typeface="Arial" panose="020B0604020202020204" pitchFamily="34" charset="0"/>
                <a:cs typeface="Arial" panose="020B0604020202020204" pitchFamily="34" charset="0"/>
              </a:rPr>
              <a:t>Group</a:t>
            </a:r>
            <a:r>
              <a:rPr lang="es-MX" sz="1200" b="1" dirty="0">
                <a:solidFill>
                  <a:srgbClr val="68776C"/>
                </a:solidFill>
                <a:latin typeface="Arial" panose="020B0604020202020204" pitchFamily="34" charset="0"/>
                <a:cs typeface="Arial" panose="020B0604020202020204" pitchFamily="34" charset="0"/>
              </a:rPr>
              <a:t> acotada exclusivamente a la IP administrativa autorizada (/32).   </a:t>
            </a:r>
            <a:r>
              <a:rPr lang="es-MX" sz="1200" b="1" dirty="0" err="1">
                <a:solidFill>
                  <a:srgbClr val="68776C"/>
                </a:solidFill>
                <a:latin typeface="Arial" panose="020B0604020202020204" pitchFamily="34" charset="0"/>
                <a:cs typeface="Arial" panose="020B0604020202020204" pitchFamily="34" charset="0"/>
              </a:rPr>
              <a:t>Enforcement</a:t>
            </a:r>
            <a:r>
              <a:rPr lang="es-MX" sz="1200" b="1" dirty="0">
                <a:solidFill>
                  <a:srgbClr val="68776C"/>
                </a:solidFill>
                <a:latin typeface="Arial" panose="020B0604020202020204" pitchFamily="34" charset="0"/>
                <a:cs typeface="Arial" panose="020B0604020202020204" pitchFamily="34" charset="0"/>
              </a:rPr>
              <a:t> de IMDSv2: IMDSv2 configurado como </a:t>
            </a:r>
            <a:r>
              <a:rPr lang="es-MX" sz="1200" b="1" dirty="0" err="1">
                <a:solidFill>
                  <a:srgbClr val="68776C"/>
                </a:solidFill>
                <a:latin typeface="Arial" panose="020B0604020202020204" pitchFamily="34" charset="0"/>
                <a:cs typeface="Arial" panose="020B0604020202020204" pitchFamily="34" charset="0"/>
              </a:rPr>
              <a:t>Required</a:t>
            </a:r>
            <a:r>
              <a:rPr lang="es-MX" sz="1200" b="1" dirty="0">
                <a:solidFill>
                  <a:srgbClr val="68776C"/>
                </a:solidFill>
                <a:latin typeface="Arial" panose="020B0604020202020204" pitchFamily="34" charset="0"/>
                <a:cs typeface="Arial" panose="020B0604020202020204" pitchFamily="34" charset="0"/>
              </a:rPr>
              <a:t>, validando la denegación de consultas sin </a:t>
            </a:r>
            <a:r>
              <a:rPr lang="es-MX" sz="1200" b="1" dirty="0" err="1">
                <a:solidFill>
                  <a:srgbClr val="68776C"/>
                </a:solidFill>
                <a:latin typeface="Arial" panose="020B0604020202020204" pitchFamily="34" charset="0"/>
                <a:cs typeface="Arial" panose="020B0604020202020204" pitchFamily="34" charset="0"/>
              </a:rPr>
              <a:t>token</a:t>
            </a:r>
            <a:r>
              <a:rPr lang="es-MX" sz="1200" b="1" dirty="0">
                <a:solidFill>
                  <a:srgbClr val="68776C"/>
                </a:solidFill>
                <a:latin typeface="Arial" panose="020B0604020202020204" pitchFamily="34" charset="0"/>
                <a:cs typeface="Arial" panose="020B0604020202020204" pitchFamily="34" charset="0"/>
              </a:rPr>
              <a:t> mediante código HTTP 401.   🔍 Análisis Operativo: Identificación y gestión de un Falso Positivo en el monitoreo (actividad administrativa legítima no notificada previamente).   </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Riesgo Final Global: BAJO (100% remediado y validado).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Impacto Laboral y Valor </a:t>
            </a:r>
            <a:r>
              <a:rPr lang="es-MX" sz="1200" b="1" dirty="0" err="1">
                <a:solidFill>
                  <a:srgbClr val="68776C"/>
                </a:solidFill>
                <a:latin typeface="Arial" panose="020B0604020202020204" pitchFamily="34" charset="0"/>
                <a:cs typeface="Arial" panose="020B0604020202020204" pitchFamily="34" charset="0"/>
              </a:rPr>
              <a:t>DevSecOpsDemuestra</a:t>
            </a:r>
            <a:r>
              <a:rPr lang="es-MX" sz="1200" b="1" dirty="0">
                <a:solidFill>
                  <a:srgbClr val="68776C"/>
                </a:solidFill>
                <a:latin typeface="Arial" panose="020B0604020202020204" pitchFamily="34" charset="0"/>
                <a:cs typeface="Arial" panose="020B0604020202020204" pitchFamily="34" charset="0"/>
              </a:rPr>
              <a:t> dominio práctico del pilar de seguridad de AWS </a:t>
            </a:r>
            <a:r>
              <a:rPr lang="es-MX" sz="1200" b="1" dirty="0" err="1">
                <a:solidFill>
                  <a:srgbClr val="68776C"/>
                </a:solidFill>
                <a:latin typeface="Arial" panose="020B0604020202020204" pitchFamily="34" charset="0"/>
                <a:cs typeface="Arial" panose="020B0604020202020204" pitchFamily="34" charset="0"/>
              </a:rPr>
              <a:t>Well-Architected</a:t>
            </a:r>
            <a:r>
              <a:rPr lang="es-MX" sz="1200" b="1" dirty="0">
                <a:solidFill>
                  <a:srgbClr val="68776C"/>
                </a:solidFill>
                <a:latin typeface="Arial" panose="020B0604020202020204" pitchFamily="34" charset="0"/>
                <a:cs typeface="Arial" panose="020B0604020202020204" pitchFamily="34" charset="0"/>
              </a:rPr>
              <a:t> Framework y marcos de </a:t>
            </a:r>
            <a:r>
              <a:rPr lang="es-MX" sz="1200" b="1" dirty="0" err="1">
                <a:solidFill>
                  <a:srgbClr val="68776C"/>
                </a:solidFill>
                <a:latin typeface="Arial" panose="020B0604020202020204" pitchFamily="34" charset="0"/>
                <a:cs typeface="Arial" panose="020B0604020202020204" pitchFamily="34" charset="0"/>
              </a:rPr>
              <a:t>hardening</a:t>
            </a:r>
            <a:r>
              <a:rPr lang="es-MX" sz="1200" b="1" dirty="0">
                <a:solidFill>
                  <a:srgbClr val="68776C"/>
                </a:solidFill>
                <a:latin typeface="Arial" panose="020B0604020202020204" pitchFamily="34" charset="0"/>
                <a:cs typeface="Arial" panose="020B0604020202020204" pitchFamily="34" charset="0"/>
              </a:rPr>
              <a:t> (CIS </a:t>
            </a:r>
            <a:r>
              <a:rPr lang="es-MX" sz="1200" b="1" dirty="0" err="1">
                <a:solidFill>
                  <a:srgbClr val="68776C"/>
                </a:solidFill>
                <a:latin typeface="Arial" panose="020B0604020202020204" pitchFamily="34" charset="0"/>
                <a:cs typeface="Arial" panose="020B0604020202020204" pitchFamily="34" charset="0"/>
              </a:rPr>
              <a:t>Benchmarks</a:t>
            </a:r>
            <a:r>
              <a:rPr lang="es-MX" sz="1200" b="1" dirty="0">
                <a:solidFill>
                  <a:srgbClr val="68776C"/>
                </a:solidFill>
                <a:latin typeface="Arial" panose="020B0604020202020204" pitchFamily="34" charset="0"/>
                <a:cs typeface="Arial" panose="020B0604020202020204" pitchFamily="34" charset="0"/>
              </a:rPr>
              <a:t>).   Refleja madurez operativa en Monitoreo &amp; Blue </a:t>
            </a:r>
            <a:r>
              <a:rPr lang="es-MX" sz="1200" b="1" dirty="0" err="1">
                <a:solidFill>
                  <a:srgbClr val="68776C"/>
                </a:solidFill>
                <a:latin typeface="Arial" panose="020B0604020202020204" pitchFamily="34" charset="0"/>
                <a:cs typeface="Arial" panose="020B0604020202020204" pitchFamily="34" charset="0"/>
              </a:rPr>
              <a:t>Teaming</a:t>
            </a:r>
            <a:r>
              <a:rPr lang="es-MX" sz="1200" b="1" dirty="0">
                <a:solidFill>
                  <a:srgbClr val="68776C"/>
                </a:solidFill>
                <a:latin typeface="Arial" panose="020B0604020202020204" pitchFamily="34" charset="0"/>
                <a:cs typeface="Arial" panose="020B0604020202020204" pitchFamily="34" charset="0"/>
              </a:rPr>
              <a:t>: capacidad para auditar eventos en tiempo real, diferenciar intrusiones reales de falsos positivos y establecer controles de gobernanza operacional. </a:t>
            </a:r>
            <a:endParaRPr lang="es-AR" sz="1200" b="1" dirty="0">
              <a:solidFill>
                <a:srgbClr val="68776C"/>
              </a:solidFill>
              <a:latin typeface="Arial" panose="020B0604020202020204" pitchFamily="34" charset="0"/>
              <a:cs typeface="Arial" panose="020B0604020202020204" pitchFamily="34" charset="0"/>
            </a:endParaRPr>
          </a:p>
        </p:txBody>
      </p:sp>
      <p:sp>
        <p:nvSpPr>
          <p:cNvPr id="13"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15"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7" name="CuadroTexto 16"/>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pic>
        <p:nvPicPr>
          <p:cNvPr id="9" name="Imagen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94"/>
            <a:ext cx="5013158" cy="7122694"/>
          </a:xfrm>
          <a:prstGeom prst="rect">
            <a:avLst/>
          </a:prstGeom>
        </p:spPr>
      </p:pic>
    </p:spTree>
    <p:extLst>
      <p:ext uri="{BB962C8B-B14F-4D97-AF65-F5344CB8AC3E}">
        <p14:creationId xmlns:p14="http://schemas.microsoft.com/office/powerpoint/2010/main" val="15748410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5180081" y="1159195"/>
            <a:ext cx="7174515" cy="954107"/>
          </a:xfrm>
          <a:prstGeom prst="rect">
            <a:avLst/>
          </a:prstGeom>
          <a:noFill/>
        </p:spPr>
        <p:txBody>
          <a:bodyPr wrap="square" rtlCol="0">
            <a:spAutoFit/>
          </a:bodyPr>
          <a:lstStyle/>
          <a:p>
            <a:r>
              <a:rPr lang="es-MX" sz="2800" spc="-150" dirty="0">
                <a:solidFill>
                  <a:srgbClr val="5880B3"/>
                </a:solidFill>
                <a:latin typeface="Arial Black" panose="020B0A04020102020204" pitchFamily="34" charset="0"/>
              </a:rPr>
              <a:t>MAPEO 4: RECONOCIMIENTO PASIVO Y GOOGLE DORKING (OSINT)</a:t>
            </a:r>
            <a:endParaRPr lang="es-AR" sz="2800" spc="-150" dirty="0">
              <a:solidFill>
                <a:srgbClr val="5880B3"/>
              </a:solidFill>
              <a:latin typeface="Arial Black" panose="020B0A04020102020204" pitchFamily="34" charset="0"/>
            </a:endParaRPr>
          </a:p>
        </p:txBody>
      </p:sp>
      <p:sp>
        <p:nvSpPr>
          <p:cNvPr id="8" name="CuadroTexto 7"/>
          <p:cNvSpPr txBox="1"/>
          <p:nvPr/>
        </p:nvSpPr>
        <p:spPr>
          <a:xfrm>
            <a:off x="5180081" y="2216084"/>
            <a:ext cx="6634602" cy="3416320"/>
          </a:xfrm>
          <a:prstGeom prst="rect">
            <a:avLst/>
          </a:prstGeom>
          <a:noFill/>
        </p:spPr>
        <p:txBody>
          <a:bodyPr wrap="square" rtlCol="0">
            <a:spAutoFit/>
          </a:bodyPr>
          <a:lstStyle/>
          <a:p>
            <a:pPr algn="ctr"/>
            <a:r>
              <a:rPr lang="es-MX" sz="1200" b="1" dirty="0">
                <a:solidFill>
                  <a:srgbClr val="68776C"/>
                </a:solidFill>
                <a:latin typeface="Arial" panose="020B0604020202020204" pitchFamily="34" charset="0"/>
                <a:cs typeface="Arial" panose="020B0604020202020204" pitchFamily="34" charset="0"/>
              </a:rPr>
              <a:t>Marco: OSINT Framework &amp; OWASP WSTG (</a:t>
            </a:r>
            <a:r>
              <a:rPr lang="es-MX" sz="1200" b="1" dirty="0" err="1">
                <a:solidFill>
                  <a:srgbClr val="68776C"/>
                </a:solidFill>
                <a:latin typeface="Arial" panose="020B0604020202020204" pitchFamily="34" charset="0"/>
                <a:cs typeface="Arial" panose="020B0604020202020204" pitchFamily="34" charset="0"/>
              </a:rPr>
              <a:t>Information</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Gathering</a:t>
            </a:r>
            <a:r>
              <a:rPr lang="es-MX" sz="1200" b="1" dirty="0">
                <a:solidFill>
                  <a:srgbClr val="68776C"/>
                </a:solidFill>
                <a:latin typeface="Arial" panose="020B0604020202020204" pitchFamily="34" charset="0"/>
                <a:cs typeface="Arial" panose="020B0604020202020204" pitchFamily="34" charset="0"/>
              </a:rPr>
              <a:t>) | Fuente: </a:t>
            </a:r>
            <a:r>
              <a:rPr lang="es-MX" sz="1200" b="1" dirty="0" err="1">
                <a:solidFill>
                  <a:srgbClr val="68776C"/>
                </a:solidFill>
                <a:latin typeface="Arial" panose="020B0604020202020204" pitchFamily="34" charset="0"/>
                <a:cs typeface="Arial" panose="020B0604020202020204" pitchFamily="34" charset="0"/>
              </a:rPr>
              <a:t>TryHackMe</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Search</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Engines</a:t>
            </a:r>
            <a:r>
              <a:rPr lang="es-MX" sz="1200" b="1" dirty="0">
                <a:solidFill>
                  <a:srgbClr val="68776C"/>
                </a:solidFill>
                <a:latin typeface="Arial" panose="020B0604020202020204" pitchFamily="34" charset="0"/>
                <a:cs typeface="Arial" panose="020B0604020202020204" pitchFamily="34" charset="0"/>
              </a:rPr>
              <a:t> &amp; </a:t>
            </a:r>
            <a:r>
              <a:rPr lang="es-MX" sz="1200" b="1" dirty="0" err="1">
                <a:solidFill>
                  <a:srgbClr val="68776C"/>
                </a:solidFill>
                <a:latin typeface="Arial" panose="020B0604020202020204" pitchFamily="34" charset="0"/>
                <a:cs typeface="Arial" panose="020B0604020202020204" pitchFamily="34" charset="0"/>
              </a:rPr>
              <a:t>Dorking</a:t>
            </a:r>
            <a:r>
              <a:rPr lang="es-MX" sz="1200" b="1" dirty="0" smtClean="0">
                <a:solidFill>
                  <a:srgbClr val="68776C"/>
                </a:solidFill>
                <a:latin typeface="Arial" panose="020B0604020202020204" pitchFamily="34" charset="0"/>
                <a:cs typeface="Arial" panose="020B0604020202020204" pitchFamily="34" charset="0"/>
              </a:rPr>
              <a:t>)</a:t>
            </a:r>
          </a:p>
          <a:p>
            <a:pPr algn="ctr"/>
            <a:endParaRPr lang="es-MX" sz="1200" b="1" dirty="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Fundamentos </a:t>
            </a:r>
            <a:r>
              <a:rPr lang="es-MX" sz="1200" b="1" dirty="0">
                <a:solidFill>
                  <a:srgbClr val="68776C"/>
                </a:solidFill>
                <a:latin typeface="Arial" panose="020B0604020202020204" pitchFamily="34" charset="0"/>
                <a:cs typeface="Arial" panose="020B0604020202020204" pitchFamily="34" charset="0"/>
              </a:rPr>
              <a:t>Técnicos y Mecanismos de </a:t>
            </a:r>
            <a:r>
              <a:rPr lang="es-MX" sz="1200" b="1" dirty="0" err="1">
                <a:solidFill>
                  <a:srgbClr val="68776C"/>
                </a:solidFill>
                <a:latin typeface="Arial" panose="020B0604020202020204" pitchFamily="34" charset="0"/>
                <a:cs typeface="Arial" panose="020B0604020202020204" pitchFamily="34" charset="0"/>
              </a:rPr>
              <a:t>IndexaciónCiclo</a:t>
            </a:r>
            <a:r>
              <a:rPr lang="es-MX" sz="1200" b="1" dirty="0">
                <a:solidFill>
                  <a:srgbClr val="68776C"/>
                </a:solidFill>
                <a:latin typeface="Arial" panose="020B0604020202020204" pitchFamily="34" charset="0"/>
                <a:cs typeface="Arial" panose="020B0604020202020204" pitchFamily="34" charset="0"/>
              </a:rPr>
              <a:t> de Rastreo: Análisis del flujo </a:t>
            </a:r>
            <a:r>
              <a:rPr lang="es-MX" sz="1200" b="1" dirty="0" err="1">
                <a:solidFill>
                  <a:srgbClr val="68776C"/>
                </a:solidFill>
                <a:latin typeface="Arial" panose="020B0604020202020204" pitchFamily="34" charset="0"/>
                <a:cs typeface="Arial" panose="020B0604020202020204" pitchFamily="34" charset="0"/>
              </a:rPr>
              <a:t>Crawler</a:t>
            </a:r>
            <a:r>
              <a:rPr lang="es-MX" sz="1200" b="1" dirty="0">
                <a:solidFill>
                  <a:srgbClr val="68776C"/>
                </a:solidFill>
                <a:latin typeface="Arial" panose="020B0604020202020204" pitchFamily="34" charset="0"/>
                <a:cs typeface="Arial" panose="020B0604020202020204" pitchFamily="34" charset="0"/>
              </a:rPr>
              <a:t> (descubre) ➔ </a:t>
            </a:r>
            <a:r>
              <a:rPr lang="es-MX" sz="1200" b="1" dirty="0" err="1">
                <a:solidFill>
                  <a:srgbClr val="68776C"/>
                </a:solidFill>
                <a:latin typeface="Arial" panose="020B0604020202020204" pitchFamily="34" charset="0"/>
                <a:cs typeface="Arial" panose="020B0604020202020204" pitchFamily="34" charset="0"/>
              </a:rPr>
              <a:t>Index</a:t>
            </a:r>
            <a:r>
              <a:rPr lang="es-MX" sz="1200" b="1" dirty="0">
                <a:solidFill>
                  <a:srgbClr val="68776C"/>
                </a:solidFill>
                <a:latin typeface="Arial" panose="020B0604020202020204" pitchFamily="34" charset="0"/>
                <a:cs typeface="Arial" panose="020B0604020202020204" pitchFamily="34" charset="0"/>
              </a:rPr>
              <a:t> (registra/organiza) ➔ </a:t>
            </a:r>
            <a:r>
              <a:rPr lang="es-MX" sz="1200" b="1" dirty="0" err="1">
                <a:solidFill>
                  <a:srgbClr val="68776C"/>
                </a:solidFill>
                <a:latin typeface="Arial" panose="020B0604020202020204" pitchFamily="34" charset="0"/>
                <a:cs typeface="Arial" panose="020B0604020202020204" pitchFamily="34" charset="0"/>
              </a:rPr>
              <a:t>Search</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Engine</a:t>
            </a:r>
            <a:r>
              <a:rPr lang="es-MX" sz="1200" b="1" dirty="0">
                <a:solidFill>
                  <a:srgbClr val="68776C"/>
                </a:solidFill>
                <a:latin typeface="Arial" panose="020B0604020202020204" pitchFamily="34" charset="0"/>
                <a:cs typeface="Arial" panose="020B0604020202020204" pitchFamily="34" charset="0"/>
              </a:rPr>
              <a:t> (consulta).   Auditoría de Archivos de </a:t>
            </a:r>
            <a:r>
              <a:rPr lang="es-MX" sz="1200" b="1" dirty="0" err="1">
                <a:solidFill>
                  <a:srgbClr val="68776C"/>
                </a:solidFill>
                <a:latin typeface="Arial" panose="020B0604020202020204" pitchFamily="34" charset="0"/>
                <a:cs typeface="Arial" panose="020B0604020202020204" pitchFamily="34" charset="0"/>
              </a:rPr>
              <a:t>Control:robots.txt</a:t>
            </a:r>
            <a:r>
              <a:rPr lang="es-MX" sz="1200" b="1" dirty="0">
                <a:solidFill>
                  <a:srgbClr val="68776C"/>
                </a:solidFill>
                <a:latin typeface="Arial" panose="020B0604020202020204" pitchFamily="34" charset="0"/>
                <a:cs typeface="Arial" panose="020B0604020202020204" pitchFamily="34" charset="0"/>
              </a:rPr>
              <a:t>: Evaluación de directivas User-</a:t>
            </a:r>
            <a:r>
              <a:rPr lang="es-MX" sz="1200" b="1" dirty="0" err="1">
                <a:solidFill>
                  <a:srgbClr val="68776C"/>
                </a:solidFill>
                <a:latin typeface="Arial" panose="020B0604020202020204" pitchFamily="34" charset="0"/>
                <a:cs typeface="Arial" panose="020B0604020202020204" pitchFamily="34" charset="0"/>
              </a:rPr>
              <a:t>agent</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Allow</a:t>
            </a:r>
            <a:r>
              <a:rPr lang="es-MX" sz="1200" b="1" dirty="0">
                <a:solidFill>
                  <a:srgbClr val="68776C"/>
                </a:solidFill>
                <a:latin typeface="Arial" panose="020B0604020202020204" pitchFamily="34" charset="0"/>
                <a:cs typeface="Arial" panose="020B0604020202020204" pitchFamily="34" charset="0"/>
              </a:rPr>
              <a:t> y </a:t>
            </a:r>
            <a:r>
              <a:rPr lang="es-MX" sz="1200" b="1" dirty="0" err="1">
                <a:solidFill>
                  <a:srgbClr val="68776C"/>
                </a:solidFill>
                <a:latin typeface="Arial" panose="020B0604020202020204" pitchFamily="34" charset="0"/>
                <a:cs typeface="Arial" panose="020B0604020202020204" pitchFamily="34" charset="0"/>
              </a:rPr>
              <a:t>Disallow</a:t>
            </a:r>
            <a:r>
              <a:rPr lang="es-MX" sz="1200" b="1" dirty="0">
                <a:solidFill>
                  <a:srgbClr val="68776C"/>
                </a:solidFill>
                <a:latin typeface="Arial" panose="020B0604020202020204" pitchFamily="34" charset="0"/>
                <a:cs typeface="Arial" panose="020B0604020202020204" pitchFamily="34" charset="0"/>
              </a:rPr>
              <a:t> (desmitificando el falso control de acceso).   sitemaps.xml: Uso de mapas de sitio como </a:t>
            </a:r>
            <a:r>
              <a:rPr lang="es-MX" sz="1200" b="1" dirty="0" err="1">
                <a:solidFill>
                  <a:srgbClr val="68776C"/>
                </a:solidFill>
                <a:latin typeface="Arial" panose="020B0604020202020204" pitchFamily="34" charset="0"/>
                <a:cs typeface="Arial" panose="020B0604020202020204" pitchFamily="34" charset="0"/>
              </a:rPr>
              <a:t>wordlist</a:t>
            </a:r>
            <a:r>
              <a:rPr lang="es-MX" sz="1200" b="1" dirty="0">
                <a:solidFill>
                  <a:srgbClr val="68776C"/>
                </a:solidFill>
                <a:latin typeface="Arial" panose="020B0604020202020204" pitchFamily="34" charset="0"/>
                <a:cs typeface="Arial" panose="020B0604020202020204" pitchFamily="34" charset="0"/>
              </a:rPr>
              <a:t> oficial para descubrir rutas (</a:t>
            </a:r>
            <a:r>
              <a:rPr lang="es-MX" sz="1200" b="1" dirty="0" err="1">
                <a:solidFill>
                  <a:srgbClr val="68776C"/>
                </a:solidFill>
                <a:latin typeface="Arial" panose="020B0604020202020204" pitchFamily="34" charset="0"/>
                <a:cs typeface="Arial" panose="020B0604020202020204" pitchFamily="34" charset="0"/>
              </a:rPr>
              <a:t>routes</a:t>
            </a:r>
            <a:r>
              <a:rPr lang="es-MX" sz="1200" b="1" dirty="0">
                <a:solidFill>
                  <a:srgbClr val="68776C"/>
                </a:solidFill>
                <a:latin typeface="Arial" panose="020B0604020202020204" pitchFamily="34" charset="0"/>
                <a:cs typeface="Arial" panose="020B0604020202020204" pitchFamily="34" charset="0"/>
              </a:rPr>
              <a:t>) sin fuerza bruta.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Búsqueda Avanzada y </a:t>
            </a:r>
            <a:r>
              <a:rPr lang="es-MX" sz="1200" b="1" dirty="0" err="1">
                <a:solidFill>
                  <a:srgbClr val="68776C"/>
                </a:solidFill>
                <a:latin typeface="Arial" panose="020B0604020202020204" pitchFamily="34" charset="0"/>
                <a:cs typeface="Arial" panose="020B0604020202020204" pitchFamily="34" charset="0"/>
              </a:rPr>
              <a:t>DorkingUso</a:t>
            </a:r>
            <a:r>
              <a:rPr lang="es-MX" sz="1200" b="1" dirty="0">
                <a:solidFill>
                  <a:srgbClr val="68776C"/>
                </a:solidFill>
                <a:latin typeface="Arial" panose="020B0604020202020204" pitchFamily="34" charset="0"/>
                <a:cs typeface="Arial" panose="020B0604020202020204" pitchFamily="34" charset="0"/>
              </a:rPr>
              <a:t> de Operadores Quirúrgicos: Filtrado del índice de Google mediante </a:t>
            </a:r>
            <a:r>
              <a:rPr lang="es-MX" sz="1200" b="1" dirty="0" err="1">
                <a:solidFill>
                  <a:srgbClr val="68776C"/>
                </a:solidFill>
                <a:latin typeface="Arial" panose="020B0604020202020204" pitchFamily="34" charset="0"/>
                <a:cs typeface="Arial" panose="020B0604020202020204" pitchFamily="34" charset="0"/>
              </a:rPr>
              <a:t>site</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filetype</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intitle</a:t>
            </a:r>
            <a:r>
              <a:rPr lang="es-MX" sz="1200" b="1" dirty="0">
                <a:solidFill>
                  <a:srgbClr val="68776C"/>
                </a:solidFill>
                <a:latin typeface="Arial" panose="020B0604020202020204" pitchFamily="34" charset="0"/>
                <a:cs typeface="Arial" panose="020B0604020202020204" pitchFamily="34" charset="0"/>
              </a:rPr>
              <a:t>:, cache: y coincidencia exacta ("...").   </a:t>
            </a:r>
            <a:r>
              <a:rPr lang="es-MX" sz="1200" b="1" dirty="0" smtClean="0">
                <a:solidFill>
                  <a:srgbClr val="68776C"/>
                </a:solidFill>
                <a:latin typeface="Arial" panose="020B0604020202020204" pitchFamily="34" charset="0"/>
                <a:cs typeface="Arial" panose="020B0604020202020204" pitchFamily="34" charset="0"/>
              </a:rPr>
              <a:t>Hallazgo </a:t>
            </a:r>
            <a:r>
              <a:rPr lang="es-MX" sz="1200" b="1" dirty="0">
                <a:solidFill>
                  <a:srgbClr val="68776C"/>
                </a:solidFill>
                <a:latin typeface="Arial" panose="020B0604020202020204" pitchFamily="34" charset="0"/>
                <a:cs typeface="Arial" panose="020B0604020202020204" pitchFamily="34" charset="0"/>
              </a:rPr>
              <a:t>Clave (ASM): Identificación de cómo la información pública indexada permite mapear la superficie de ataque con 100% de pasividad (cero interacción directa con el objetivo y cero alertas en firewalls).   </a:t>
            </a: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Impacto </a:t>
            </a:r>
            <a:r>
              <a:rPr lang="es-MX" sz="1200" b="1" dirty="0">
                <a:solidFill>
                  <a:srgbClr val="68776C"/>
                </a:solidFill>
                <a:latin typeface="Arial" panose="020B0604020202020204" pitchFamily="34" charset="0"/>
                <a:cs typeface="Arial" panose="020B0604020202020204" pitchFamily="34" charset="0"/>
              </a:rPr>
              <a:t>Laboral y Valor </a:t>
            </a:r>
            <a:r>
              <a:rPr lang="es-MX" sz="1200" b="1" dirty="0" err="1">
                <a:solidFill>
                  <a:srgbClr val="68776C"/>
                </a:solidFill>
                <a:latin typeface="Arial" panose="020B0604020202020204" pitchFamily="34" charset="0"/>
                <a:cs typeface="Arial" panose="020B0604020202020204" pitchFamily="34" charset="0"/>
              </a:rPr>
              <a:t>DevSecOpsDemuestra</a:t>
            </a:r>
            <a:r>
              <a:rPr lang="es-MX" sz="1200" b="1" dirty="0">
                <a:solidFill>
                  <a:srgbClr val="68776C"/>
                </a:solidFill>
                <a:latin typeface="Arial" panose="020B0604020202020204" pitchFamily="34" charset="0"/>
                <a:cs typeface="Arial" panose="020B0604020202020204" pitchFamily="34" charset="0"/>
              </a:rPr>
              <a:t> capacidad para evaluar la huella digital pública de la empresa desde la perspectiva del atacante (</a:t>
            </a:r>
            <a:r>
              <a:rPr lang="es-MX" sz="1200" b="1" dirty="0" err="1">
                <a:solidFill>
                  <a:srgbClr val="68776C"/>
                </a:solidFill>
                <a:latin typeface="Arial" panose="020B0604020202020204" pitchFamily="34" charset="0"/>
                <a:cs typeface="Arial" panose="020B0604020202020204" pitchFamily="34" charset="0"/>
              </a:rPr>
              <a:t>Reconnaissance</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Phase</a:t>
            </a:r>
            <a:r>
              <a:rPr lang="es-MX" sz="1200" b="1" dirty="0">
                <a:solidFill>
                  <a:srgbClr val="68776C"/>
                </a:solidFill>
                <a:latin typeface="Arial" panose="020B0604020202020204" pitchFamily="34" charset="0"/>
                <a:cs typeface="Arial" panose="020B0604020202020204" pitchFamily="34" charset="0"/>
              </a:rPr>
              <a:t>).   Aporta criterio para asesorar a los equipos de desarrollo e infraestructura en SEO Seguro e higienización de archivos expuestos</a:t>
            </a:r>
          </a:p>
          <a:p>
            <a:pPr marL="228600" indent="-228600">
              <a:buAutoNum type="arabicPeriod"/>
            </a:pPr>
            <a:endParaRPr lang="es-MX" sz="1200" b="1" dirty="0" smtClean="0">
              <a:solidFill>
                <a:srgbClr val="68776C"/>
              </a:solidFill>
              <a:latin typeface="Arial" panose="020B0604020202020204" pitchFamily="34" charset="0"/>
              <a:cs typeface="Arial" panose="020B0604020202020204" pitchFamily="34" charset="0"/>
            </a:endParaRPr>
          </a:p>
        </p:txBody>
      </p:sp>
      <p:sp>
        <p:nvSpPr>
          <p:cNvPr id="13"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15"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7" name="CuadroTexto 16"/>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pic>
        <p:nvPicPr>
          <p:cNvPr id="9" name="Imagen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94"/>
            <a:ext cx="5013158" cy="7122694"/>
          </a:xfrm>
          <a:prstGeom prst="rect">
            <a:avLst/>
          </a:prstGeom>
        </p:spPr>
      </p:pic>
    </p:spTree>
    <p:extLst>
      <p:ext uri="{BB962C8B-B14F-4D97-AF65-F5344CB8AC3E}">
        <p14:creationId xmlns:p14="http://schemas.microsoft.com/office/powerpoint/2010/main" val="30058222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4900863" y="625525"/>
            <a:ext cx="5714684" cy="1384995"/>
          </a:xfrm>
          <a:prstGeom prst="rect">
            <a:avLst/>
          </a:prstGeom>
          <a:noFill/>
        </p:spPr>
        <p:txBody>
          <a:bodyPr wrap="square" rtlCol="0">
            <a:spAutoFit/>
          </a:bodyPr>
          <a:lstStyle/>
          <a:p>
            <a:r>
              <a:rPr lang="es-MX" sz="2800" spc="-150" dirty="0">
                <a:solidFill>
                  <a:srgbClr val="5880B3"/>
                </a:solidFill>
                <a:latin typeface="Arial Black" panose="020B0A04020102020204" pitchFamily="34" charset="0"/>
              </a:rPr>
              <a:t>MAPEO 5: SEGURIDAD EN APLICACIONES MÓVILES (APPSEC &amp; SAST)</a:t>
            </a:r>
            <a:endParaRPr lang="es-AR" sz="2800" spc="-150" dirty="0">
              <a:solidFill>
                <a:srgbClr val="5880B3"/>
              </a:solidFill>
              <a:latin typeface="Arial Black" panose="020B0A04020102020204" pitchFamily="34" charset="0"/>
            </a:endParaRPr>
          </a:p>
        </p:txBody>
      </p:sp>
      <p:sp>
        <p:nvSpPr>
          <p:cNvPr id="8" name="CuadroTexto 7"/>
          <p:cNvSpPr txBox="1"/>
          <p:nvPr/>
        </p:nvSpPr>
        <p:spPr>
          <a:xfrm>
            <a:off x="5180081" y="2216083"/>
            <a:ext cx="6715140" cy="3785652"/>
          </a:xfrm>
          <a:prstGeom prst="rect">
            <a:avLst/>
          </a:prstGeom>
          <a:noFill/>
        </p:spPr>
        <p:txBody>
          <a:bodyPr wrap="square" rtlCol="0">
            <a:spAutoFit/>
          </a:bodyPr>
          <a:lstStyle/>
          <a:p>
            <a:pPr algn="ctr"/>
            <a:r>
              <a:rPr lang="es-AR" sz="1200" b="1" dirty="0">
                <a:solidFill>
                  <a:srgbClr val="68776C"/>
                </a:solidFill>
                <a:latin typeface="Arial" panose="020B0604020202020204" pitchFamily="34" charset="0"/>
                <a:cs typeface="Arial" panose="020B0604020202020204" pitchFamily="34" charset="0"/>
              </a:rPr>
              <a:t>Activo Auditado: App Móvil "AIACOWORK" (.</a:t>
            </a:r>
            <a:r>
              <a:rPr lang="es-AR" sz="1200" b="1" dirty="0" err="1">
                <a:solidFill>
                  <a:srgbClr val="68776C"/>
                </a:solidFill>
                <a:latin typeface="Arial" panose="020B0604020202020204" pitchFamily="34" charset="0"/>
                <a:cs typeface="Arial" panose="020B0604020202020204" pitchFamily="34" charset="0"/>
              </a:rPr>
              <a:t>apk</a:t>
            </a:r>
            <a:r>
              <a:rPr lang="es-AR" sz="1200" b="1" dirty="0">
                <a:solidFill>
                  <a:srgbClr val="68776C"/>
                </a:solidFill>
                <a:latin typeface="Arial" panose="020B0604020202020204" pitchFamily="34" charset="0"/>
                <a:cs typeface="Arial" panose="020B0604020202020204" pitchFamily="34" charset="0"/>
              </a:rPr>
              <a:t>) | Marco: OWASP MASVS &amp; MASTG | Herramienta: </a:t>
            </a:r>
            <a:r>
              <a:rPr lang="es-AR" sz="1200" b="1" dirty="0" err="1">
                <a:solidFill>
                  <a:srgbClr val="68776C"/>
                </a:solidFill>
                <a:latin typeface="Arial" panose="020B0604020202020204" pitchFamily="34" charset="0"/>
                <a:cs typeface="Arial" panose="020B0604020202020204" pitchFamily="34" charset="0"/>
              </a:rPr>
              <a:t>MobSF</a:t>
            </a:r>
            <a:r>
              <a:rPr lang="es-AR" sz="1200" b="1" dirty="0">
                <a:solidFill>
                  <a:srgbClr val="68776C"/>
                </a:solidFill>
                <a:latin typeface="Arial" panose="020B0604020202020204" pitchFamily="34" charset="0"/>
                <a:cs typeface="Arial" panose="020B0604020202020204" pitchFamily="34" charset="0"/>
              </a:rPr>
              <a:t> (</a:t>
            </a:r>
            <a:r>
              <a:rPr lang="es-AR" sz="1200" b="1" dirty="0" err="1">
                <a:solidFill>
                  <a:srgbClr val="68776C"/>
                </a:solidFill>
                <a:latin typeface="Arial" panose="020B0604020202020204" pitchFamily="34" charset="0"/>
                <a:cs typeface="Arial" panose="020B0604020202020204" pitchFamily="34" charset="0"/>
              </a:rPr>
              <a:t>Docker</a:t>
            </a:r>
            <a:r>
              <a:rPr lang="es-AR" sz="1200" b="1" dirty="0" smtClean="0">
                <a:solidFill>
                  <a:srgbClr val="68776C"/>
                </a:solidFill>
                <a:latin typeface="Arial" panose="020B0604020202020204" pitchFamily="34" charset="0"/>
                <a:cs typeface="Arial" panose="020B0604020202020204" pitchFamily="34" charset="0"/>
              </a:rPr>
              <a:t>)</a:t>
            </a: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Análisis </a:t>
            </a:r>
            <a:r>
              <a:rPr lang="es-MX" sz="1200" b="1" dirty="0">
                <a:solidFill>
                  <a:srgbClr val="68776C"/>
                </a:solidFill>
                <a:latin typeface="Arial" panose="020B0604020202020204" pitchFamily="34" charset="0"/>
                <a:cs typeface="Arial" panose="020B0604020202020204" pitchFamily="34" charset="0"/>
              </a:rPr>
              <a:t>Estático y Reverse </a:t>
            </a:r>
            <a:r>
              <a:rPr lang="es-MX" sz="1200" b="1" dirty="0" err="1">
                <a:solidFill>
                  <a:srgbClr val="68776C"/>
                </a:solidFill>
                <a:latin typeface="Arial" panose="020B0604020202020204" pitchFamily="34" charset="0"/>
                <a:cs typeface="Arial" panose="020B0604020202020204" pitchFamily="34" charset="0"/>
              </a:rPr>
              <a:t>Engineering</a:t>
            </a:r>
            <a:r>
              <a:rPr lang="es-MX" sz="1200" b="1" dirty="0">
                <a:solidFill>
                  <a:srgbClr val="68776C"/>
                </a:solidFill>
                <a:latin typeface="Arial" panose="020B0604020202020204" pitchFamily="34" charset="0"/>
                <a:cs typeface="Arial" panose="020B0604020202020204" pitchFamily="34" charset="0"/>
              </a:rPr>
              <a:t> (SAST / Red </a:t>
            </a:r>
            <a:r>
              <a:rPr lang="es-MX" sz="1200" b="1" dirty="0" err="1">
                <a:solidFill>
                  <a:srgbClr val="68776C"/>
                </a:solidFill>
                <a:latin typeface="Arial" panose="020B0604020202020204" pitchFamily="34" charset="0"/>
                <a:cs typeface="Arial" panose="020B0604020202020204" pitchFamily="34" charset="0"/>
              </a:rPr>
              <a:t>Team</a:t>
            </a:r>
            <a:r>
              <a:rPr lang="es-MX" sz="1200" b="1" dirty="0">
                <a:solidFill>
                  <a:srgbClr val="68776C"/>
                </a:solidFill>
                <a:latin typeface="Arial" panose="020B0604020202020204" pitchFamily="34" charset="0"/>
                <a:cs typeface="Arial" panose="020B0604020202020204" pitchFamily="34" charset="0"/>
              </a:rPr>
              <a:t>)Ingeniería Inversa: Deconstrucción del binario </a:t>
            </a:r>
            <a:r>
              <a:rPr lang="es-MX" sz="1200" b="1" dirty="0" err="1">
                <a:solidFill>
                  <a:srgbClr val="68776C"/>
                </a:solidFill>
                <a:latin typeface="Arial" panose="020B0604020202020204" pitchFamily="34" charset="0"/>
                <a:cs typeface="Arial" panose="020B0604020202020204" pitchFamily="34" charset="0"/>
              </a:rPr>
              <a:t>Android</a:t>
            </a:r>
            <a:r>
              <a:rPr lang="es-MX" sz="1200" b="1" dirty="0">
                <a:solidFill>
                  <a:srgbClr val="68776C"/>
                </a:solidFill>
                <a:latin typeface="Arial" panose="020B0604020202020204" pitchFamily="34" charset="0"/>
                <a:cs typeface="Arial" panose="020B0604020202020204" pitchFamily="34" charset="0"/>
              </a:rPr>
              <a:t> para auditoría de código fuente y </a:t>
            </a:r>
            <a:r>
              <a:rPr lang="es-MX" sz="1200" b="1" dirty="0" err="1">
                <a:solidFill>
                  <a:srgbClr val="68776C"/>
                </a:solidFill>
                <a:latin typeface="Arial" panose="020B0604020202020204" pitchFamily="34" charset="0"/>
                <a:cs typeface="Arial" panose="020B0604020202020204" pitchFamily="34" charset="0"/>
              </a:rPr>
              <a:t>manifiesto.Vulnerabilidades</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Identificadas:Permisos</a:t>
            </a:r>
            <a:r>
              <a:rPr lang="es-MX" sz="1200" b="1" dirty="0">
                <a:solidFill>
                  <a:srgbClr val="68776C"/>
                </a:solidFill>
                <a:latin typeface="Arial" panose="020B0604020202020204" pitchFamily="34" charset="0"/>
                <a:cs typeface="Arial" panose="020B0604020202020204" pitchFamily="34" charset="0"/>
              </a:rPr>
              <a:t> excesivos no justificados en el </a:t>
            </a:r>
            <a:r>
              <a:rPr lang="es-MX" sz="1200" b="1" dirty="0" err="1">
                <a:solidFill>
                  <a:srgbClr val="68776C"/>
                </a:solidFill>
                <a:latin typeface="Arial" panose="020B0604020202020204" pitchFamily="34" charset="0"/>
                <a:cs typeface="Arial" panose="020B0604020202020204" pitchFamily="34" charset="0"/>
              </a:rPr>
              <a:t>AndroidManifest.xml.Tráfico</a:t>
            </a:r>
            <a:r>
              <a:rPr lang="es-MX" sz="1200" b="1" dirty="0">
                <a:solidFill>
                  <a:srgbClr val="68776C"/>
                </a:solidFill>
                <a:latin typeface="Arial" panose="020B0604020202020204" pitchFamily="34" charset="0"/>
                <a:cs typeface="Arial" panose="020B0604020202020204" pitchFamily="34" charset="0"/>
              </a:rPr>
              <a:t> en texto plano habilitado (</a:t>
            </a:r>
            <a:r>
              <a:rPr lang="es-MX" sz="1200" b="1" dirty="0" err="1">
                <a:solidFill>
                  <a:srgbClr val="68776C"/>
                </a:solidFill>
                <a:latin typeface="Arial" panose="020B0604020202020204" pitchFamily="34" charset="0"/>
                <a:cs typeface="Arial" panose="020B0604020202020204" pitchFamily="34" charset="0"/>
              </a:rPr>
              <a:t>android:usesCleartextTraffic</a:t>
            </a:r>
            <a:r>
              <a:rPr lang="es-MX" sz="1200" b="1" dirty="0">
                <a:solidFill>
                  <a:srgbClr val="68776C"/>
                </a:solidFill>
                <a:latin typeface="Arial" panose="020B0604020202020204" pitchFamily="34" charset="0"/>
                <a:cs typeface="Arial" panose="020B0604020202020204" pitchFamily="34" charset="0"/>
              </a:rPr>
              <a:t>="true").Exposición de llaves de API y </a:t>
            </a:r>
            <a:r>
              <a:rPr lang="es-MX" sz="1200" b="1" dirty="0" err="1">
                <a:solidFill>
                  <a:srgbClr val="68776C"/>
                </a:solidFill>
                <a:latin typeface="Arial" panose="020B0604020202020204" pitchFamily="34" charset="0"/>
                <a:cs typeface="Arial" panose="020B0604020202020204" pitchFamily="34" charset="0"/>
              </a:rPr>
              <a:t>endpoints</a:t>
            </a:r>
            <a:r>
              <a:rPr lang="es-MX" sz="1200" b="1" dirty="0">
                <a:solidFill>
                  <a:srgbClr val="68776C"/>
                </a:solidFill>
                <a:latin typeface="Arial" panose="020B0604020202020204" pitchFamily="34" charset="0"/>
                <a:cs typeface="Arial" panose="020B0604020202020204" pitchFamily="34" charset="0"/>
              </a:rPr>
              <a:t> internos </a:t>
            </a:r>
            <a:r>
              <a:rPr lang="es-MX" sz="1200" b="1" dirty="0" err="1">
                <a:solidFill>
                  <a:srgbClr val="68776C"/>
                </a:solidFill>
                <a:latin typeface="Arial" panose="020B0604020202020204" pitchFamily="34" charset="0"/>
                <a:cs typeface="Arial" panose="020B0604020202020204" pitchFamily="34" charset="0"/>
              </a:rPr>
              <a:t>hardcodeados</a:t>
            </a:r>
            <a:r>
              <a:rPr lang="es-MX" sz="1200" b="1" dirty="0">
                <a:solidFill>
                  <a:srgbClr val="68776C"/>
                </a:solidFill>
                <a:latin typeface="Arial" panose="020B0604020202020204" pitchFamily="34" charset="0"/>
                <a:cs typeface="Arial" panose="020B0604020202020204" pitchFamily="34" charset="0"/>
              </a:rPr>
              <a:t> en el código</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Calificación Inicial de Seguridad (</a:t>
            </a:r>
            <a:r>
              <a:rPr lang="es-MX" sz="1200" b="1" dirty="0" err="1">
                <a:solidFill>
                  <a:srgbClr val="68776C"/>
                </a:solidFill>
                <a:latin typeface="Arial" panose="020B0604020202020204" pitchFamily="34" charset="0"/>
                <a:cs typeface="Arial" panose="020B0604020202020204" pitchFamily="34" charset="0"/>
              </a:rPr>
              <a:t>MobSF</a:t>
            </a:r>
            <a:r>
              <a:rPr lang="es-MX" sz="1200" b="1" dirty="0">
                <a:solidFill>
                  <a:srgbClr val="68776C"/>
                </a:solidFill>
                <a:latin typeface="Arial" panose="020B0604020202020204" pitchFamily="34" charset="0"/>
                <a:cs typeface="Arial" panose="020B0604020202020204" pitchFamily="34" charset="0"/>
              </a:rPr>
              <a:t> Score): 42 / 100 (Riesgo Alto</a:t>
            </a:r>
            <a:r>
              <a:rPr lang="es-MX" sz="1200" b="1" dirty="0" smtClean="0">
                <a:solidFill>
                  <a:srgbClr val="68776C"/>
                </a:solidFill>
                <a:latin typeface="Arial" panose="020B0604020202020204" pitchFamily="34" charset="0"/>
                <a:cs typeface="Arial" panose="020B0604020202020204" pitchFamily="34" charset="0"/>
              </a:rPr>
              <a:t>).</a:t>
            </a:r>
            <a:endParaRPr lang="es-MX" sz="1200" b="1" dirty="0">
              <a:solidFill>
                <a:srgbClr val="68776C"/>
              </a:solidFill>
              <a:latin typeface="Arial" panose="020B0604020202020204" pitchFamily="34" charset="0"/>
              <a:cs typeface="Arial" panose="020B0604020202020204" pitchFamily="34" charset="0"/>
            </a:endParaRPr>
          </a:p>
          <a:p>
            <a:pPr marL="228600" indent="-228600" algn="ctr">
              <a:buAutoNum type="arabicPeriod"/>
            </a:pP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Remediación y Código Seguro (Blue </a:t>
            </a:r>
            <a:r>
              <a:rPr lang="es-MX" sz="1200" b="1" dirty="0" err="1">
                <a:solidFill>
                  <a:srgbClr val="68776C"/>
                </a:solidFill>
                <a:latin typeface="Arial" panose="020B0604020202020204" pitchFamily="34" charset="0"/>
                <a:cs typeface="Arial" panose="020B0604020202020204" pitchFamily="34" charset="0"/>
              </a:rPr>
              <a:t>Team</a:t>
            </a:r>
            <a:r>
              <a:rPr lang="es-MX" sz="1200" b="1" dirty="0">
                <a:solidFill>
                  <a:srgbClr val="68776C"/>
                </a:solidFill>
                <a:latin typeface="Arial" panose="020B0604020202020204" pitchFamily="34" charset="0"/>
                <a:cs typeface="Arial" panose="020B0604020202020204" pitchFamily="34" charset="0"/>
              </a:rPr>
              <a:t>)</a:t>
            </a:r>
            <a:r>
              <a:rPr lang="es-MX" sz="1200" b="1" dirty="0" err="1">
                <a:solidFill>
                  <a:srgbClr val="68776C"/>
                </a:solidFill>
                <a:latin typeface="Arial" panose="020B0604020202020204" pitchFamily="34" charset="0"/>
                <a:cs typeface="Arial" panose="020B0604020202020204" pitchFamily="34" charset="0"/>
              </a:rPr>
              <a:t>Hardening</a:t>
            </a:r>
            <a:r>
              <a:rPr lang="es-MX" sz="1200" b="1" dirty="0">
                <a:solidFill>
                  <a:srgbClr val="68776C"/>
                </a:solidFill>
                <a:latin typeface="Arial" panose="020B0604020202020204" pitchFamily="34" charset="0"/>
                <a:cs typeface="Arial" panose="020B0604020202020204" pitchFamily="34" charset="0"/>
              </a:rPr>
              <a:t> de Configuración: Aplicación de Network Security </a:t>
            </a:r>
            <a:r>
              <a:rPr lang="es-MX" sz="1200" b="1" dirty="0" err="1">
                <a:solidFill>
                  <a:srgbClr val="68776C"/>
                </a:solidFill>
                <a:latin typeface="Arial" panose="020B0604020202020204" pitchFamily="34" charset="0"/>
                <a:cs typeface="Arial" panose="020B0604020202020204" pitchFamily="34" charset="0"/>
              </a:rPr>
              <a:t>Configuration</a:t>
            </a:r>
            <a:r>
              <a:rPr lang="es-MX" sz="1200" b="1" dirty="0">
                <a:solidFill>
                  <a:srgbClr val="68776C"/>
                </a:solidFill>
                <a:latin typeface="Arial" panose="020B0604020202020204" pitchFamily="34" charset="0"/>
                <a:cs typeface="Arial" panose="020B0604020202020204" pitchFamily="34" charset="0"/>
              </a:rPr>
              <a:t> forzando TLS/HTTPS </a:t>
            </a:r>
            <a:r>
              <a:rPr lang="es-MX" sz="1200" b="1" dirty="0" err="1">
                <a:solidFill>
                  <a:srgbClr val="68776C"/>
                </a:solidFill>
                <a:latin typeface="Arial" panose="020B0604020202020204" pitchFamily="34" charset="0"/>
                <a:cs typeface="Arial" panose="020B0604020202020204" pitchFamily="34" charset="0"/>
              </a:rPr>
              <a:t>estricto.Higienización</a:t>
            </a:r>
            <a:r>
              <a:rPr lang="es-MX" sz="1200" b="1" dirty="0">
                <a:solidFill>
                  <a:srgbClr val="68776C"/>
                </a:solidFill>
                <a:latin typeface="Arial" panose="020B0604020202020204" pitchFamily="34" charset="0"/>
                <a:cs typeface="Arial" panose="020B0604020202020204" pitchFamily="34" charset="0"/>
              </a:rPr>
              <a:t> de Código: Depuración de permisos innecesarios y migración de credenciales/secretos a variables de entorno seguras</a:t>
            </a: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Resultado Post-Remediación: Security Score optimizado a 88 / 100 (Riesgo Bajo/Controlado</a:t>
            </a:r>
            <a:r>
              <a:rPr lang="es-MX" sz="1200" b="1" dirty="0" smtClean="0">
                <a:solidFill>
                  <a:srgbClr val="68776C"/>
                </a:solidFill>
                <a:latin typeface="Arial" panose="020B0604020202020204" pitchFamily="34" charset="0"/>
                <a:cs typeface="Arial" panose="020B0604020202020204" pitchFamily="34" charset="0"/>
              </a:rPr>
              <a:t>).</a:t>
            </a:r>
          </a:p>
          <a:p>
            <a:pPr marL="228600" indent="-228600" algn="ctr">
              <a:buAutoNum type="arabicPeriod"/>
            </a:pPr>
            <a:endParaRPr lang="es-MX" sz="1200" b="1" dirty="0" smtClean="0">
              <a:solidFill>
                <a:srgbClr val="68776C"/>
              </a:solidFill>
              <a:latin typeface="Arial" panose="020B0604020202020204" pitchFamily="34" charset="0"/>
              <a:cs typeface="Arial" panose="020B0604020202020204" pitchFamily="34" charset="0"/>
            </a:endParaRPr>
          </a:p>
          <a:p>
            <a:pPr marL="228600" indent="-228600" algn="ctr">
              <a:buAutoNum type="arabicPeriod"/>
            </a:pPr>
            <a:r>
              <a:rPr lang="es-MX" sz="1200" b="1" dirty="0" smtClean="0">
                <a:solidFill>
                  <a:srgbClr val="68776C"/>
                </a:solidFill>
                <a:latin typeface="Arial" panose="020B0604020202020204" pitchFamily="34" charset="0"/>
                <a:cs typeface="Arial" panose="020B0604020202020204" pitchFamily="34" charset="0"/>
              </a:rPr>
              <a:t> </a:t>
            </a:r>
            <a:r>
              <a:rPr lang="es-MX" sz="1200" b="1" dirty="0">
                <a:solidFill>
                  <a:srgbClr val="68776C"/>
                </a:solidFill>
                <a:latin typeface="Arial" panose="020B0604020202020204" pitchFamily="34" charset="0"/>
                <a:cs typeface="Arial" panose="020B0604020202020204" pitchFamily="34" charset="0"/>
              </a:rPr>
              <a:t>Impacto Laboral y Valor </a:t>
            </a:r>
            <a:r>
              <a:rPr lang="es-MX" sz="1200" b="1" dirty="0" err="1">
                <a:solidFill>
                  <a:srgbClr val="68776C"/>
                </a:solidFill>
                <a:latin typeface="Arial" panose="020B0604020202020204" pitchFamily="34" charset="0"/>
                <a:cs typeface="Arial" panose="020B0604020202020204" pitchFamily="34" charset="0"/>
              </a:rPr>
              <a:t>DevSecOpsDemuestra</a:t>
            </a:r>
            <a:r>
              <a:rPr lang="es-MX" sz="1200" b="1" dirty="0">
                <a:solidFill>
                  <a:srgbClr val="68776C"/>
                </a:solidFill>
                <a:latin typeface="Arial" panose="020B0604020202020204" pitchFamily="34" charset="0"/>
                <a:cs typeface="Arial" panose="020B0604020202020204" pitchFamily="34" charset="0"/>
              </a:rPr>
              <a:t> capacidad para ejecutar SAST (</a:t>
            </a:r>
            <a:r>
              <a:rPr lang="es-MX" sz="1200" b="1" dirty="0" err="1">
                <a:solidFill>
                  <a:srgbClr val="68776C"/>
                </a:solidFill>
                <a:latin typeface="Arial" panose="020B0604020202020204" pitchFamily="34" charset="0"/>
                <a:cs typeface="Arial" panose="020B0604020202020204" pitchFamily="34" charset="0"/>
              </a:rPr>
              <a:t>Static</a:t>
            </a:r>
            <a:r>
              <a:rPr lang="es-MX" sz="1200" b="1" dirty="0">
                <a:solidFill>
                  <a:srgbClr val="68776C"/>
                </a:solidFill>
                <a:latin typeface="Arial" panose="020B0604020202020204" pitchFamily="34" charset="0"/>
                <a:cs typeface="Arial" panose="020B0604020202020204" pitchFamily="34" charset="0"/>
              </a:rPr>
              <a:t> </a:t>
            </a:r>
            <a:r>
              <a:rPr lang="es-MX" sz="1200" b="1" dirty="0" err="1">
                <a:solidFill>
                  <a:srgbClr val="68776C"/>
                </a:solidFill>
                <a:latin typeface="Arial" panose="020B0604020202020204" pitchFamily="34" charset="0"/>
                <a:cs typeface="Arial" panose="020B0604020202020204" pitchFamily="34" charset="0"/>
              </a:rPr>
              <a:t>Application</a:t>
            </a:r>
            <a:r>
              <a:rPr lang="es-MX" sz="1200" b="1" dirty="0">
                <a:solidFill>
                  <a:srgbClr val="68776C"/>
                </a:solidFill>
                <a:latin typeface="Arial" panose="020B0604020202020204" pitchFamily="34" charset="0"/>
                <a:cs typeface="Arial" panose="020B0604020202020204" pitchFamily="34" charset="0"/>
              </a:rPr>
              <a:t> Security </a:t>
            </a:r>
            <a:r>
              <a:rPr lang="es-MX" sz="1200" b="1" dirty="0" err="1">
                <a:solidFill>
                  <a:srgbClr val="68776C"/>
                </a:solidFill>
                <a:latin typeface="Arial" panose="020B0604020202020204" pitchFamily="34" charset="0"/>
                <a:cs typeface="Arial" panose="020B0604020202020204" pitchFamily="34" charset="0"/>
              </a:rPr>
              <a:t>Testing</a:t>
            </a:r>
            <a:r>
              <a:rPr lang="es-MX" sz="1200" b="1" dirty="0">
                <a:solidFill>
                  <a:srgbClr val="68776C"/>
                </a:solidFill>
                <a:latin typeface="Arial" panose="020B0604020202020204" pitchFamily="34" charset="0"/>
                <a:cs typeface="Arial" panose="020B0604020202020204" pitchFamily="34" charset="0"/>
              </a:rPr>
              <a:t>) integrado en pipelines de CI/</a:t>
            </a:r>
            <a:r>
              <a:rPr lang="es-MX" sz="1200" b="1" dirty="0" err="1">
                <a:solidFill>
                  <a:srgbClr val="68776C"/>
                </a:solidFill>
                <a:latin typeface="Arial" panose="020B0604020202020204" pitchFamily="34" charset="0"/>
                <a:cs typeface="Arial" panose="020B0604020202020204" pitchFamily="34" charset="0"/>
              </a:rPr>
              <a:t>CD.Valida</a:t>
            </a:r>
            <a:r>
              <a:rPr lang="es-MX" sz="1200" b="1" dirty="0">
                <a:solidFill>
                  <a:srgbClr val="68776C"/>
                </a:solidFill>
                <a:latin typeface="Arial" panose="020B0604020202020204" pitchFamily="34" charset="0"/>
                <a:cs typeface="Arial" panose="020B0604020202020204" pitchFamily="34" charset="0"/>
              </a:rPr>
              <a:t> el dominio de la seguridad móvil según estándares globales (OWASP MASVS), cubriendo el ecosistema completo (Web, Cloud, Identidad y Móvil).</a:t>
            </a:r>
            <a:endParaRPr lang="es-AR" sz="1200" b="1" dirty="0">
              <a:solidFill>
                <a:srgbClr val="68776C"/>
              </a:solidFill>
              <a:latin typeface="Arial" panose="020B0604020202020204" pitchFamily="34" charset="0"/>
              <a:cs typeface="Arial" panose="020B0604020202020204" pitchFamily="34" charset="0"/>
            </a:endParaRPr>
          </a:p>
        </p:txBody>
      </p:sp>
      <p:sp>
        <p:nvSpPr>
          <p:cNvPr id="13"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15"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2" name="Imagen 1"/>
          <p:cNvPicPr>
            <a:picLocks noChangeAspect="1"/>
          </p:cNvPicPr>
          <p:nvPr/>
        </p:nvPicPr>
        <p:blipFill rotWithShape="1">
          <a:blip r:embed="rId2" cstate="print">
            <a:extLst>
              <a:ext uri="{28A0092B-C50C-407E-A947-70E740481C1C}">
                <a14:useLocalDpi xmlns:a14="http://schemas.microsoft.com/office/drawing/2010/main" val="0"/>
              </a:ext>
            </a:extLst>
          </a:blip>
          <a:srcRect l="40254" t="-588" r="22753" b="588"/>
          <a:stretch/>
        </p:blipFill>
        <p:spPr>
          <a:xfrm>
            <a:off x="1072669" y="-58289"/>
            <a:ext cx="3886822" cy="7004521"/>
          </a:xfrm>
          <a:prstGeom prst="rect">
            <a:avLst/>
          </a:prstGeom>
        </p:spPr>
      </p:pic>
      <p:sp>
        <p:nvSpPr>
          <p:cNvPr id="17" name="CuadroTexto 16"/>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pic>
        <p:nvPicPr>
          <p:cNvPr id="9" name="Imagen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64694"/>
            <a:ext cx="5013158" cy="7122694"/>
          </a:xfrm>
          <a:prstGeom prst="rect">
            <a:avLst/>
          </a:prstGeom>
        </p:spPr>
      </p:pic>
    </p:spTree>
    <p:extLst>
      <p:ext uri="{BB962C8B-B14F-4D97-AF65-F5344CB8AC3E}">
        <p14:creationId xmlns:p14="http://schemas.microsoft.com/office/powerpoint/2010/main" val="38212278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4600155" y="1042114"/>
            <a:ext cx="8409407" cy="830997"/>
          </a:xfrm>
          <a:prstGeom prst="rect">
            <a:avLst/>
          </a:prstGeom>
          <a:noFill/>
        </p:spPr>
        <p:txBody>
          <a:bodyPr wrap="square" rtlCol="0">
            <a:spAutoFit/>
          </a:bodyPr>
          <a:lstStyle/>
          <a:p>
            <a:r>
              <a:rPr lang="es-MX" sz="2400" spc="-150" dirty="0">
                <a:solidFill>
                  <a:srgbClr val="5880B3"/>
                </a:solidFill>
                <a:latin typeface="Arial Black" panose="020B0A04020102020204" pitchFamily="34" charset="0"/>
              </a:rPr>
              <a:t>APRENDIZAJES, FORTALEZAS Y OPORTUNIDADES DE MEJORA</a:t>
            </a:r>
            <a:endParaRPr lang="es-AR" sz="2400" spc="-150" dirty="0" smtClean="0">
              <a:solidFill>
                <a:srgbClr val="5880B3"/>
              </a:solidFill>
              <a:latin typeface="Arial Black" panose="020B0A04020102020204" pitchFamily="34" charset="0"/>
            </a:endParaRPr>
          </a:p>
        </p:txBody>
      </p:sp>
      <p:sp>
        <p:nvSpPr>
          <p:cNvPr id="14" name="CuadroTexto 13"/>
          <p:cNvSpPr txBox="1"/>
          <p:nvPr/>
        </p:nvSpPr>
        <p:spPr>
          <a:xfrm>
            <a:off x="4945353" y="1723955"/>
            <a:ext cx="6663882" cy="738664"/>
          </a:xfrm>
          <a:prstGeom prst="rect">
            <a:avLst/>
          </a:prstGeom>
          <a:noFill/>
        </p:spPr>
        <p:txBody>
          <a:bodyPr wrap="square" rtlCol="0">
            <a:spAutoFit/>
          </a:bodyPr>
          <a:lstStyle/>
          <a:p>
            <a:r>
              <a:rPr lang="es-MX" sz="1400" b="1" dirty="0" smtClean="0">
                <a:solidFill>
                  <a:srgbClr val="68776C"/>
                </a:solidFill>
                <a:latin typeface="Arial" panose="020B0604020202020204" pitchFamily="34" charset="0"/>
                <a:cs typeface="Arial" panose="020B0604020202020204" pitchFamily="34" charset="0"/>
              </a:rPr>
              <a:t>Oportunidades </a:t>
            </a:r>
            <a:r>
              <a:rPr lang="es-MX" sz="1400" b="1" dirty="0">
                <a:solidFill>
                  <a:srgbClr val="68776C"/>
                </a:solidFill>
                <a:latin typeface="Arial" panose="020B0604020202020204" pitchFamily="34" charset="0"/>
                <a:cs typeface="Arial" panose="020B0604020202020204" pitchFamily="34" charset="0"/>
              </a:rPr>
              <a:t>de Crecimiento (</a:t>
            </a:r>
            <a:r>
              <a:rPr lang="es-MX" sz="1400" b="1" dirty="0" err="1" smtClean="0">
                <a:solidFill>
                  <a:srgbClr val="68776C"/>
                </a:solidFill>
                <a:latin typeface="Arial" panose="020B0604020202020204" pitchFamily="34" charset="0"/>
                <a:cs typeface="Arial" panose="020B0604020202020204" pitchFamily="34" charset="0"/>
              </a:rPr>
              <a:t>Opportunities</a:t>
            </a:r>
            <a:r>
              <a:rPr lang="es-MX" sz="1400" b="1" dirty="0" smtClean="0">
                <a:solidFill>
                  <a:srgbClr val="68776C"/>
                </a:solidFill>
                <a:latin typeface="Arial" panose="020B0604020202020204" pitchFamily="34" charset="0"/>
                <a:cs typeface="Arial" panose="020B0604020202020204" pitchFamily="34" charset="0"/>
              </a:rPr>
              <a:t>)Automatización </a:t>
            </a:r>
            <a:r>
              <a:rPr lang="es-MX" sz="1400" b="1" dirty="0">
                <a:solidFill>
                  <a:srgbClr val="68776C"/>
                </a:solidFill>
                <a:latin typeface="Arial" panose="020B0604020202020204" pitchFamily="34" charset="0"/>
                <a:cs typeface="Arial" panose="020B0604020202020204" pitchFamily="34" charset="0"/>
              </a:rPr>
              <a:t>Continuada: Integrar los análisis SAST y escaneos de infraestructura directamente en pipelines de integración continua (CI/CD).</a:t>
            </a:r>
            <a:endParaRPr lang="es-AR" sz="1400" b="1" dirty="0">
              <a:solidFill>
                <a:srgbClr val="68776C"/>
              </a:solidFill>
              <a:latin typeface="Arial" panose="020B0604020202020204" pitchFamily="34" charset="0"/>
              <a:cs typeface="Arial" panose="020B0604020202020204" pitchFamily="34" charset="0"/>
            </a:endParaRPr>
          </a:p>
        </p:txBody>
      </p:sp>
      <p:sp>
        <p:nvSpPr>
          <p:cNvPr id="15" name="CuadroTexto 14"/>
          <p:cNvSpPr txBox="1"/>
          <p:nvPr/>
        </p:nvSpPr>
        <p:spPr>
          <a:xfrm>
            <a:off x="4945353" y="2422861"/>
            <a:ext cx="6105154" cy="2246769"/>
          </a:xfrm>
          <a:prstGeom prst="rect">
            <a:avLst/>
          </a:prstGeom>
          <a:noFill/>
        </p:spPr>
        <p:txBody>
          <a:bodyPr wrap="square" rtlCol="0">
            <a:spAutoFit/>
          </a:bodyPr>
          <a:lstStyle/>
          <a:p>
            <a:r>
              <a:rPr lang="es-MX" sz="1400" dirty="0">
                <a:solidFill>
                  <a:srgbClr val="68776C"/>
                </a:solidFill>
                <a:latin typeface="Arial" panose="020B0604020202020204" pitchFamily="34" charset="0"/>
                <a:cs typeface="Arial" panose="020B0604020202020204" pitchFamily="34" charset="0"/>
              </a:rPr>
              <a:t>1. Aprendizajes Clave (</a:t>
            </a:r>
            <a:r>
              <a:rPr lang="es-MX" sz="1400" dirty="0" err="1">
                <a:solidFill>
                  <a:srgbClr val="68776C"/>
                </a:solidFill>
                <a:latin typeface="Arial" panose="020B0604020202020204" pitchFamily="34" charset="0"/>
                <a:cs typeface="Arial" panose="020B0604020202020204" pitchFamily="34" charset="0"/>
              </a:rPr>
              <a:t>Learnings</a:t>
            </a:r>
            <a:r>
              <a:rPr lang="es-MX" sz="1400" dirty="0">
                <a:solidFill>
                  <a:srgbClr val="68776C"/>
                </a:solidFill>
                <a:latin typeface="Arial" panose="020B0604020202020204" pitchFamily="34" charset="0"/>
                <a:cs typeface="Arial" panose="020B0604020202020204" pitchFamily="34" charset="0"/>
              </a:rPr>
              <a:t>)🔄 Visión 360° de la Superficie de Ataque: Integración de auditorías en Web, Identidad, Nube (AWS), OSINT y Aplicaciones Móviles bajo un solo marco de gestión</a:t>
            </a:r>
            <a:r>
              <a:rPr lang="es-MX" sz="1400" dirty="0" smtClean="0">
                <a:solidFill>
                  <a:srgbClr val="68776C"/>
                </a:solidFill>
                <a:latin typeface="Arial" panose="020B0604020202020204" pitchFamily="34" charset="0"/>
                <a:cs typeface="Arial" panose="020B0604020202020204" pitchFamily="34" charset="0"/>
              </a:rPr>
              <a:t>. </a:t>
            </a:r>
            <a:r>
              <a:rPr lang="es-MX" sz="1400" dirty="0">
                <a:solidFill>
                  <a:srgbClr val="68776C"/>
                </a:solidFill>
                <a:latin typeface="Arial" panose="020B0604020202020204" pitchFamily="34" charset="0"/>
                <a:cs typeface="Arial" panose="020B0604020202020204" pitchFamily="34" charset="0"/>
              </a:rPr>
              <a:t>Metodología Red </a:t>
            </a:r>
            <a:r>
              <a:rPr lang="es-MX" sz="1400" dirty="0" err="1">
                <a:solidFill>
                  <a:srgbClr val="68776C"/>
                </a:solidFill>
                <a:latin typeface="Arial" panose="020B0604020202020204" pitchFamily="34" charset="0"/>
                <a:cs typeface="Arial" panose="020B0604020202020204" pitchFamily="34" charset="0"/>
              </a:rPr>
              <a:t>Team</a:t>
            </a:r>
            <a:r>
              <a:rPr lang="es-MX" sz="1400" dirty="0">
                <a:solidFill>
                  <a:srgbClr val="68776C"/>
                </a:solidFill>
                <a:latin typeface="Arial" panose="020B0604020202020204" pitchFamily="34" charset="0"/>
                <a:cs typeface="Arial" panose="020B0604020202020204" pitchFamily="34" charset="0"/>
              </a:rPr>
              <a:t> ➔ Blue </a:t>
            </a:r>
            <a:r>
              <a:rPr lang="es-MX" sz="1400" dirty="0" err="1">
                <a:solidFill>
                  <a:srgbClr val="68776C"/>
                </a:solidFill>
                <a:latin typeface="Arial" panose="020B0604020202020204" pitchFamily="34" charset="0"/>
                <a:cs typeface="Arial" panose="020B0604020202020204" pitchFamily="34" charset="0"/>
              </a:rPr>
              <a:t>Team</a:t>
            </a:r>
            <a:r>
              <a:rPr lang="es-MX" sz="1400" dirty="0">
                <a:solidFill>
                  <a:srgbClr val="68776C"/>
                </a:solidFill>
                <a:latin typeface="Arial" panose="020B0604020202020204" pitchFamily="34" charset="0"/>
                <a:cs typeface="Arial" panose="020B0604020202020204" pitchFamily="34" charset="0"/>
              </a:rPr>
              <a:t>: Comprensión de que identificar vulnerabilidades solo es el 50% del trabajo; el valor real radica en el </a:t>
            </a:r>
            <a:r>
              <a:rPr lang="es-MX" sz="1400" dirty="0" err="1">
                <a:solidFill>
                  <a:srgbClr val="68776C"/>
                </a:solidFill>
                <a:latin typeface="Arial" panose="020B0604020202020204" pitchFamily="34" charset="0"/>
                <a:cs typeface="Arial" panose="020B0604020202020204" pitchFamily="34" charset="0"/>
              </a:rPr>
              <a:t>hardening</a:t>
            </a:r>
            <a:r>
              <a:rPr lang="es-MX" sz="1400" dirty="0">
                <a:solidFill>
                  <a:srgbClr val="68776C"/>
                </a:solidFill>
                <a:latin typeface="Arial" panose="020B0604020202020204" pitchFamily="34" charset="0"/>
                <a:cs typeface="Arial" panose="020B0604020202020204" pitchFamily="34" charset="0"/>
              </a:rPr>
              <a:t>, la remediación y su validación </a:t>
            </a:r>
            <a:r>
              <a:rPr lang="es-MX" sz="1400" dirty="0" err="1">
                <a:solidFill>
                  <a:srgbClr val="68776C"/>
                </a:solidFill>
                <a:latin typeface="Arial" panose="020B0604020202020204" pitchFamily="34" charset="0"/>
                <a:cs typeface="Arial" panose="020B0604020202020204" pitchFamily="34" charset="0"/>
              </a:rPr>
              <a:t>técnica.</a:t>
            </a:r>
            <a:r>
              <a:rPr lang="es-MX" sz="1400" dirty="0" err="1" smtClean="0">
                <a:solidFill>
                  <a:srgbClr val="68776C"/>
                </a:solidFill>
                <a:latin typeface="Arial" panose="020B0604020202020204" pitchFamily="34" charset="0"/>
                <a:cs typeface="Arial" panose="020B0604020202020204" pitchFamily="34" charset="0"/>
              </a:rPr>
              <a:t>⚖Gobernanza</a:t>
            </a:r>
            <a:r>
              <a:rPr lang="es-MX" sz="1400" dirty="0" smtClean="0">
                <a:solidFill>
                  <a:srgbClr val="68776C"/>
                </a:solidFill>
                <a:latin typeface="Arial" panose="020B0604020202020204" pitchFamily="34" charset="0"/>
                <a:cs typeface="Arial" panose="020B0604020202020204" pitchFamily="34" charset="0"/>
              </a:rPr>
              <a:t> </a:t>
            </a:r>
            <a:r>
              <a:rPr lang="es-MX" sz="1400" dirty="0">
                <a:solidFill>
                  <a:srgbClr val="68776C"/>
                </a:solidFill>
                <a:latin typeface="Arial" panose="020B0604020202020204" pitchFamily="34" charset="0"/>
                <a:cs typeface="Arial" panose="020B0604020202020204" pitchFamily="34" charset="0"/>
              </a:rPr>
              <a:t>y Operativa Real: Capacidad para discernir entre ataques reales y falsos positivos generados por deficiencias de comunicación interna.📜 Alineación Normativa: Aplicación práctica de estándares internacionales (ISO/IEC 27001, NIST SP 800-115, OWASP, CIS </a:t>
            </a:r>
            <a:r>
              <a:rPr lang="es-MX" sz="1400" dirty="0" err="1">
                <a:solidFill>
                  <a:srgbClr val="68776C"/>
                </a:solidFill>
                <a:latin typeface="Arial" panose="020B0604020202020204" pitchFamily="34" charset="0"/>
                <a:cs typeface="Arial" panose="020B0604020202020204" pitchFamily="34" charset="0"/>
              </a:rPr>
              <a:t>Benchmarks</a:t>
            </a:r>
            <a:r>
              <a:rPr lang="es-MX" sz="1400" dirty="0">
                <a:solidFill>
                  <a:srgbClr val="68776C"/>
                </a:solidFill>
                <a:latin typeface="Arial" panose="020B0604020202020204" pitchFamily="34" charset="0"/>
                <a:cs typeface="Arial" panose="020B0604020202020204" pitchFamily="34" charset="0"/>
              </a:rPr>
              <a:t>).</a:t>
            </a:r>
            <a:endParaRPr lang="es-AR" sz="1400" b="1" dirty="0">
              <a:solidFill>
                <a:srgbClr val="68776C"/>
              </a:solidFill>
              <a:latin typeface="Arial" panose="020B0604020202020204" pitchFamily="34" charset="0"/>
              <a:cs typeface="Arial" panose="020B0604020202020204" pitchFamily="34" charset="0"/>
            </a:endParaRPr>
          </a:p>
        </p:txBody>
      </p:sp>
      <p:pic>
        <p:nvPicPr>
          <p:cNvPr id="16" name="Imagen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00155" y="2533670"/>
            <a:ext cx="202514" cy="254664"/>
          </a:xfrm>
          <a:prstGeom prst="rect">
            <a:avLst/>
          </a:prstGeom>
        </p:spPr>
      </p:pic>
      <p:sp>
        <p:nvSpPr>
          <p:cNvPr id="17" name="CuadroTexto 16"/>
          <p:cNvSpPr txBox="1"/>
          <p:nvPr/>
        </p:nvSpPr>
        <p:spPr>
          <a:xfrm>
            <a:off x="4945353" y="4669630"/>
            <a:ext cx="5676541" cy="1600438"/>
          </a:xfrm>
          <a:prstGeom prst="rect">
            <a:avLst/>
          </a:prstGeom>
          <a:noFill/>
        </p:spPr>
        <p:txBody>
          <a:bodyPr wrap="square" rtlCol="0">
            <a:spAutoFit/>
          </a:bodyPr>
          <a:lstStyle/>
          <a:p>
            <a:r>
              <a:rPr lang="es-MX" sz="1400" dirty="0">
                <a:solidFill>
                  <a:srgbClr val="68776C"/>
                </a:solidFill>
                <a:latin typeface="Arial" panose="020B0604020202020204" pitchFamily="34" charset="0"/>
                <a:cs typeface="Arial" panose="020B0604020202020204" pitchFamily="34" charset="0"/>
              </a:rPr>
              <a:t>2. Fortalezas Demostradas (</a:t>
            </a:r>
            <a:r>
              <a:rPr lang="es-MX" sz="1400" dirty="0" err="1">
                <a:solidFill>
                  <a:srgbClr val="68776C"/>
                </a:solidFill>
                <a:latin typeface="Arial" panose="020B0604020202020204" pitchFamily="34" charset="0"/>
                <a:cs typeface="Arial" panose="020B0604020202020204" pitchFamily="34" charset="0"/>
              </a:rPr>
              <a:t>Strengths</a:t>
            </a:r>
            <a:r>
              <a:rPr lang="es-MX" sz="1400" dirty="0">
                <a:solidFill>
                  <a:srgbClr val="68776C"/>
                </a:solidFill>
                <a:latin typeface="Arial" panose="020B0604020202020204" pitchFamily="34" charset="0"/>
                <a:cs typeface="Arial" panose="020B0604020202020204" pitchFamily="34" charset="0"/>
              </a:rPr>
              <a:t>)💻 Perfil Híbrido </a:t>
            </a:r>
            <a:r>
              <a:rPr lang="es-MX" sz="1400" dirty="0" err="1">
                <a:solidFill>
                  <a:srgbClr val="68776C"/>
                </a:solidFill>
                <a:latin typeface="Arial" panose="020B0604020202020204" pitchFamily="34" charset="0"/>
                <a:cs typeface="Arial" panose="020B0604020202020204" pitchFamily="34" charset="0"/>
              </a:rPr>
              <a:t>DevSecOps</a:t>
            </a:r>
            <a:r>
              <a:rPr lang="es-MX" sz="1400" dirty="0">
                <a:solidFill>
                  <a:srgbClr val="68776C"/>
                </a:solidFill>
                <a:latin typeface="Arial" panose="020B0604020202020204" pitchFamily="34" charset="0"/>
                <a:cs typeface="Arial" panose="020B0604020202020204" pitchFamily="34" charset="0"/>
              </a:rPr>
              <a:t>: Combinación de conocimientos de desarrollo (</a:t>
            </a:r>
            <a:r>
              <a:rPr lang="es-MX" sz="1400" dirty="0" err="1">
                <a:solidFill>
                  <a:srgbClr val="68776C"/>
                </a:solidFill>
                <a:latin typeface="Arial" panose="020B0604020202020204" pitchFamily="34" charset="0"/>
                <a:cs typeface="Arial" panose="020B0604020202020204" pitchFamily="34" charset="0"/>
              </a:rPr>
              <a:t>Fullstack</a:t>
            </a:r>
            <a:r>
              <a:rPr lang="es-MX" sz="1400" dirty="0">
                <a:solidFill>
                  <a:srgbClr val="68776C"/>
                </a:solidFill>
                <a:latin typeface="Arial" panose="020B0604020202020204" pitchFamily="34" charset="0"/>
                <a:cs typeface="Arial" panose="020B0604020202020204" pitchFamily="34" charset="0"/>
              </a:rPr>
              <a:t>/Mobile) con análisis de </a:t>
            </a:r>
            <a:r>
              <a:rPr lang="es-MX" sz="1400" dirty="0" err="1">
                <a:solidFill>
                  <a:srgbClr val="68776C"/>
                </a:solidFill>
                <a:latin typeface="Arial" panose="020B0604020202020204" pitchFamily="34" charset="0"/>
                <a:cs typeface="Arial" panose="020B0604020202020204" pitchFamily="34" charset="0"/>
              </a:rPr>
              <a:t>ciberseguridad</a:t>
            </a:r>
            <a:r>
              <a:rPr lang="es-MX" sz="1400" dirty="0">
                <a:solidFill>
                  <a:srgbClr val="68776C"/>
                </a:solidFill>
                <a:latin typeface="Arial" panose="020B0604020202020204" pitchFamily="34" charset="0"/>
                <a:cs typeface="Arial" panose="020B0604020202020204" pitchFamily="34" charset="0"/>
              </a:rPr>
              <a:t> ofensiva y defensiva</a:t>
            </a:r>
            <a:r>
              <a:rPr lang="es-MX" sz="1400">
                <a:solidFill>
                  <a:srgbClr val="68776C"/>
                </a:solidFill>
                <a:latin typeface="Arial" panose="020B0604020202020204" pitchFamily="34" charset="0"/>
                <a:cs typeface="Arial" panose="020B0604020202020204" pitchFamily="34" charset="0"/>
              </a:rPr>
              <a:t>.</a:t>
            </a:r>
            <a:r>
              <a:rPr lang="es-MX" sz="1400" smtClean="0">
                <a:solidFill>
                  <a:srgbClr val="68776C"/>
                </a:solidFill>
                <a:latin typeface="Arial" panose="020B0604020202020204" pitchFamily="34" charset="0"/>
                <a:cs typeface="Arial" panose="020B0604020202020204" pitchFamily="34" charset="0"/>
              </a:rPr>
              <a:t>🛠Resolución </a:t>
            </a:r>
            <a:r>
              <a:rPr lang="es-MX" sz="1400" dirty="0">
                <a:solidFill>
                  <a:srgbClr val="68776C"/>
                </a:solidFill>
                <a:latin typeface="Arial" panose="020B0604020202020204" pitchFamily="34" charset="0"/>
                <a:cs typeface="Arial" panose="020B0604020202020204" pitchFamily="34" charset="0"/>
              </a:rPr>
              <a:t>Técnica Práctica: Manejo fluido de herramientas de auditoría (</a:t>
            </a:r>
            <a:r>
              <a:rPr lang="es-MX" sz="1400" dirty="0" err="1">
                <a:solidFill>
                  <a:srgbClr val="68776C"/>
                </a:solidFill>
                <a:latin typeface="Arial" panose="020B0604020202020204" pitchFamily="34" charset="0"/>
                <a:cs typeface="Arial" panose="020B0604020202020204" pitchFamily="34" charset="0"/>
              </a:rPr>
              <a:t>Nmap</a:t>
            </a:r>
            <a:r>
              <a:rPr lang="es-MX" sz="1400" dirty="0">
                <a:solidFill>
                  <a:srgbClr val="68776C"/>
                </a:solidFill>
                <a:latin typeface="Arial" panose="020B0604020202020204" pitchFamily="34" charset="0"/>
                <a:cs typeface="Arial" panose="020B0604020202020204" pitchFamily="34" charset="0"/>
              </a:rPr>
              <a:t>, </a:t>
            </a:r>
            <a:r>
              <a:rPr lang="es-MX" sz="1400" dirty="0" err="1">
                <a:solidFill>
                  <a:srgbClr val="68776C"/>
                </a:solidFill>
                <a:latin typeface="Arial" panose="020B0604020202020204" pitchFamily="34" charset="0"/>
                <a:cs typeface="Arial" panose="020B0604020202020204" pitchFamily="34" charset="0"/>
              </a:rPr>
              <a:t>Gobuster</a:t>
            </a:r>
            <a:r>
              <a:rPr lang="es-MX" sz="1400" dirty="0">
                <a:solidFill>
                  <a:srgbClr val="68776C"/>
                </a:solidFill>
                <a:latin typeface="Arial" panose="020B0604020202020204" pitchFamily="34" charset="0"/>
                <a:cs typeface="Arial" panose="020B0604020202020204" pitchFamily="34" charset="0"/>
              </a:rPr>
              <a:t>, </a:t>
            </a:r>
            <a:r>
              <a:rPr lang="es-MX" sz="1400" dirty="0" err="1">
                <a:solidFill>
                  <a:srgbClr val="68776C"/>
                </a:solidFill>
                <a:latin typeface="Arial" panose="020B0604020202020204" pitchFamily="34" charset="0"/>
                <a:cs typeface="Arial" panose="020B0604020202020204" pitchFamily="34" charset="0"/>
              </a:rPr>
              <a:t>MobSF</a:t>
            </a:r>
            <a:r>
              <a:rPr lang="es-MX" sz="1400" dirty="0">
                <a:solidFill>
                  <a:srgbClr val="68776C"/>
                </a:solidFill>
                <a:latin typeface="Arial" panose="020B0604020202020204" pitchFamily="34" charset="0"/>
                <a:cs typeface="Arial" panose="020B0604020202020204" pitchFamily="34" charset="0"/>
              </a:rPr>
              <a:t>, </a:t>
            </a:r>
            <a:r>
              <a:rPr lang="es-MX" sz="1400" dirty="0" err="1">
                <a:solidFill>
                  <a:srgbClr val="68776C"/>
                </a:solidFill>
                <a:latin typeface="Arial" panose="020B0604020202020204" pitchFamily="34" charset="0"/>
                <a:cs typeface="Arial" panose="020B0604020202020204" pitchFamily="34" charset="0"/>
              </a:rPr>
              <a:t>Docker</a:t>
            </a:r>
            <a:r>
              <a:rPr lang="es-MX" sz="1400" dirty="0">
                <a:solidFill>
                  <a:srgbClr val="68776C"/>
                </a:solidFill>
                <a:latin typeface="Arial" panose="020B0604020202020204" pitchFamily="34" charset="0"/>
                <a:cs typeface="Arial" panose="020B0604020202020204" pitchFamily="34" charset="0"/>
              </a:rPr>
              <a:t>, </a:t>
            </a:r>
            <a:r>
              <a:rPr lang="es-MX" sz="1400" dirty="0" err="1">
                <a:solidFill>
                  <a:srgbClr val="68776C"/>
                </a:solidFill>
                <a:latin typeface="Arial" panose="020B0604020202020204" pitchFamily="34" charset="0"/>
                <a:cs typeface="Arial" panose="020B0604020202020204" pitchFamily="34" charset="0"/>
              </a:rPr>
              <a:t>MySQL</a:t>
            </a:r>
            <a:r>
              <a:rPr lang="es-MX" sz="1400" dirty="0">
                <a:solidFill>
                  <a:srgbClr val="68776C"/>
                </a:solidFill>
                <a:latin typeface="Arial" panose="020B0604020202020204" pitchFamily="34" charset="0"/>
                <a:cs typeface="Arial" panose="020B0604020202020204" pitchFamily="34" charset="0"/>
              </a:rPr>
              <a:t>, AWS CLI</a:t>
            </a:r>
            <a:r>
              <a:rPr lang="es-MX" sz="1400" dirty="0" smtClean="0">
                <a:solidFill>
                  <a:srgbClr val="68776C"/>
                </a:solidFill>
                <a:latin typeface="Arial" panose="020B0604020202020204" pitchFamily="34" charset="0"/>
                <a:cs typeface="Arial" panose="020B0604020202020204" pitchFamily="34" charset="0"/>
              </a:rPr>
              <a:t>).Disciplina </a:t>
            </a:r>
            <a:r>
              <a:rPr lang="es-MX" sz="1400" dirty="0">
                <a:solidFill>
                  <a:srgbClr val="68776C"/>
                </a:solidFill>
                <a:latin typeface="Arial" panose="020B0604020202020204" pitchFamily="34" charset="0"/>
                <a:cs typeface="Arial" panose="020B0604020202020204" pitchFamily="34" charset="0"/>
              </a:rPr>
              <a:t>Documental: Rigor en la elaboración de reportes ejecutivos, matriz de riesgos y respaldos antes de cualquier remediación.</a:t>
            </a:r>
            <a:endParaRPr lang="es-AR" sz="1400" b="1" dirty="0">
              <a:solidFill>
                <a:srgbClr val="68776C"/>
              </a:solidFill>
              <a:latin typeface="Arial" panose="020B0604020202020204" pitchFamily="34" charset="0"/>
              <a:cs typeface="Arial" panose="020B0604020202020204" pitchFamily="34" charset="0"/>
            </a:endParaRPr>
          </a:p>
        </p:txBody>
      </p:sp>
      <p:pic>
        <p:nvPicPr>
          <p:cNvPr id="18" name="Imagen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71099" y="5063546"/>
            <a:ext cx="202514" cy="254664"/>
          </a:xfrm>
          <a:prstGeom prst="rect">
            <a:avLst/>
          </a:prstGeom>
        </p:spPr>
      </p:pic>
      <p:pic>
        <p:nvPicPr>
          <p:cNvPr id="2" name="Imagen 1"/>
          <p:cNvPicPr>
            <a:picLocks noChangeAspect="1"/>
          </p:cNvPicPr>
          <p:nvPr/>
        </p:nvPicPr>
        <p:blipFill rotWithShape="1">
          <a:blip r:embed="rId3" cstate="print">
            <a:extLst>
              <a:ext uri="{28A0092B-C50C-407E-A947-70E740481C1C}">
                <a14:useLocalDpi xmlns:a14="http://schemas.microsoft.com/office/drawing/2010/main" val="0"/>
              </a:ext>
            </a:extLst>
          </a:blip>
          <a:srcRect l="38040" r="20382"/>
          <a:stretch/>
        </p:blipFill>
        <p:spPr>
          <a:xfrm>
            <a:off x="0" y="-2413"/>
            <a:ext cx="4278587" cy="6860413"/>
          </a:xfrm>
          <a:prstGeom prst="rect">
            <a:avLst/>
          </a:prstGeom>
        </p:spPr>
      </p:pic>
      <p:sp>
        <p:nvSpPr>
          <p:cNvPr id="19" name="CuadroTexto 18"/>
          <p:cNvSpPr txBox="1"/>
          <p:nvPr/>
        </p:nvSpPr>
        <p:spPr>
          <a:xfrm>
            <a:off x="7163629" y="6391966"/>
            <a:ext cx="8459236" cy="307777"/>
          </a:xfrm>
          <a:prstGeom prst="rect">
            <a:avLst/>
          </a:prstGeom>
          <a:noFill/>
        </p:spPr>
        <p:txBody>
          <a:bodyPr wrap="square" rtlCol="0">
            <a:spAutoFit/>
          </a:bodyPr>
          <a:lstStyle/>
          <a:p>
            <a:r>
              <a:rPr lang="es-AR" sz="1400" i="1" dirty="0" smtClean="0">
                <a:solidFill>
                  <a:srgbClr val="68776C"/>
                </a:solidFill>
                <a:latin typeface="Arial" panose="020B0604020202020204" pitchFamily="34" charset="0"/>
                <a:cs typeface="Arial" panose="020B0604020202020204" pitchFamily="34" charset="0"/>
              </a:rPr>
              <a:t>El tiempo máximo para esta presentación será de 1 minuto </a:t>
            </a:r>
            <a:endParaRPr lang="es-AR" sz="1400" b="1" i="1" dirty="0">
              <a:solidFill>
                <a:srgbClr val="68776C"/>
              </a:solidFill>
              <a:latin typeface="Arial" panose="020B0604020202020204" pitchFamily="34" charset="0"/>
              <a:cs typeface="Arial" panose="020B0604020202020204" pitchFamily="34" charset="0"/>
            </a:endParaRPr>
          </a:p>
        </p:txBody>
      </p:sp>
      <p:sp>
        <p:nvSpPr>
          <p:cNvPr id="20" name="Subtítulo 2">
            <a:extLst>
              <a:ext uri="{FF2B5EF4-FFF2-40B4-BE49-F238E27FC236}">
                <a16:creationId xmlns="" xmlns:a16="http://schemas.microsoft.com/office/drawing/2014/main" id="{D756694E-3F83-49A0-8ED9-DF372DC2F713}"/>
              </a:ext>
            </a:extLst>
          </p:cNvPr>
          <p:cNvSpPr>
            <a:spLocks noGrp="1"/>
          </p:cNvSpPr>
          <p:nvPr>
            <p:ph type="subTitle" idx="1"/>
          </p:nvPr>
        </p:nvSpPr>
        <p:spPr>
          <a:xfrm>
            <a:off x="9642116" y="719294"/>
            <a:ext cx="2135988" cy="345066"/>
          </a:xfrm>
          <a:solidFill>
            <a:schemeClr val="tx1">
              <a:lumMod val="65000"/>
              <a:lumOff val="35000"/>
            </a:schemeClr>
          </a:solidFill>
        </p:spPr>
        <p:txBody>
          <a:bodyPr anchor="ctr">
            <a:normAutofit/>
          </a:bodyPr>
          <a:lstStyle/>
          <a:p>
            <a:pPr>
              <a:lnSpc>
                <a:spcPct val="100000"/>
              </a:lnSpc>
            </a:pPr>
            <a:r>
              <a:rPr lang="es-ES" sz="1200" b="1" dirty="0" smtClean="0">
                <a:solidFill>
                  <a:schemeClr val="bg1"/>
                </a:solidFill>
                <a:latin typeface="Arial Black" panose="020B0A04020102020204" pitchFamily="34" charset="0"/>
                <a:cs typeface="Arial" panose="020B0604020202020204" pitchFamily="34" charset="0"/>
              </a:rPr>
              <a:t>VOLUNTARIADO</a:t>
            </a:r>
            <a:endParaRPr lang="es-AR" sz="1200" b="1" dirty="0">
              <a:solidFill>
                <a:schemeClr val="bg1"/>
              </a:solidFill>
              <a:latin typeface="Arial Black" panose="020B0A04020102020204" pitchFamily="34" charset="0"/>
              <a:cs typeface="Arial" panose="020B0604020202020204" pitchFamily="34" charset="0"/>
            </a:endParaRPr>
          </a:p>
        </p:txBody>
      </p:sp>
      <p:sp>
        <p:nvSpPr>
          <p:cNvPr id="23" name="Subtítulo 2">
            <a:extLst>
              <a:ext uri="{FF2B5EF4-FFF2-40B4-BE49-F238E27FC236}">
                <a16:creationId xmlns="" xmlns:a16="http://schemas.microsoft.com/office/drawing/2014/main" id="{D756694E-3F83-49A0-8ED9-DF372DC2F713}"/>
              </a:ext>
            </a:extLst>
          </p:cNvPr>
          <p:cNvSpPr txBox="1">
            <a:spLocks/>
          </p:cNvSpPr>
          <p:nvPr/>
        </p:nvSpPr>
        <p:spPr>
          <a:xfrm>
            <a:off x="9605538" y="434300"/>
            <a:ext cx="2209145" cy="34591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s-ES" sz="2000" b="1" dirty="0" smtClean="0">
                <a:solidFill>
                  <a:schemeClr val="tx1">
                    <a:lumMod val="65000"/>
                    <a:lumOff val="35000"/>
                  </a:schemeClr>
                </a:solidFill>
                <a:latin typeface="Arial" panose="020B0604020202020204" pitchFamily="34" charset="0"/>
                <a:cs typeface="Arial" panose="020B0604020202020204" pitchFamily="34" charset="0"/>
              </a:rPr>
              <a:t>PRESENTACIÓN</a:t>
            </a:r>
            <a:endParaRPr lang="es-AR" sz="2000" b="1"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574838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348</TotalTime>
  <Words>1739</Words>
  <Application>Microsoft Office PowerPoint</Application>
  <PresentationFormat>Panorámica</PresentationFormat>
  <Paragraphs>87</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Arial Black</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Cuenta Microsoft</dc:creator>
  <cp:lastModifiedBy>Cuenta Microsoft</cp:lastModifiedBy>
  <cp:revision>28</cp:revision>
  <dcterms:created xsi:type="dcterms:W3CDTF">2026-10-07T01:03:50Z</dcterms:created>
  <dcterms:modified xsi:type="dcterms:W3CDTF">2026-10-14T23:33:52Z</dcterms:modified>
</cp:coreProperties>
</file>